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553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speaker: Đinh Thị Lan Hương. Good morning, professor and everyone. Group 24 presents VNBank-LOD, a Linked Open Data application for the Vietnamese banking system. The talk has four parts, one per member, and takes about ten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Hương: The talk follows the five steps of the problem in four parts. I cover the problem, scope and data. Thành presents the ontology design. Ngọc presents the RDF conversion and linking. Minh presents the query interface, reasoning and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Hương: Public information about banks is only at one or two stars today. Even a simple question, such as which state-controlled banks were founded before 1991 and are headquartered in Hanoi, needs manual lookups across many pages. Tim Berners-Lee's five-star scheme is the yardstick we use throughout: on the right are the five levels and what we did at each.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Hương: We set minimum targets before starting. The final result exceeds them for bank types and linked banks. There are only three locations (Vietnam, Hanoi, Ho Chi Minh City), because all 30 banks are headquartered in these two cities.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Hương: The data covers 30 banks of five types: policy banks, state-owned commercial banks, joint-stock commercial banks, domestic banks transferred under compulsory transfer, and wholly foreign-owned banks. The figure on the right is generated from the data file itself: each bank connects to its type on the left and its headquarters on the right; coloured banks have external links. Next, Thành will show how we modelled this data as an ontology.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Thành: The ontology scope comes from six competency questions, for example which banks are state-owned, where they are headquartered and which services they provide. The figure on the left is generated from the Turtle file: orange nodes are core classes, green nodes are the five defined classes, grey boxes are datatypes. We model types, locations and services as individuals so new ones can be added without changing the schema.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Thành: On the left are the restrictions on Bank: each bank has exactly one type, exactly one headquarters and exactly one identifier, and Bank is disjoint from the other classes. On the right are the five defined classes: their members are not asserted but computed by the reasoner. Note that the founded-before-1991 class uses a value-range restriction, which OWL RL cannot infer, so HermiT is required.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Thành: This is Protégé after running the reasoner. The class tree on the left shows the five defined classes classified under Bank. The right pane shows the Digital banking service individual: the isProvidedBy rows have a yellow background, meaning the reasoner inferred them from the inverse of providesService; we did not assert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Thành: Two DL queries in Protégé. The key one is on the right: HermiT answers the expression foundedYear less than or equal to 1990 with exactly six banks, which OWL RL in Python cannot do. The lists also contain Q-number and DBpedia IRIs because owl:sameAs makes them the same individual. Next, Ngọc presents the RDF data and linking.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Ngọc: The tabular data is converted to Turtle with rdflib. This is a shortened description of ACB: bilingual labels, xsd datatypes, links to its type, headquarters, services and data source, and two owl:sameAs links. Every resource has its own stable URI; for example, LienVietPostBank was renamed LPBank but the URI is still bank/lpbank.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Ngọc: This figure is generated from the Turtle file, not drawn by hand. ACB and Vietcombank connect to their type, headquarters and services; the blue edges are owl:sameAs links to Wikidata and DBpedia. Locations are linked as well, so our data connects directly to the Linked Open Data cloud.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Ngọc: We use owl:sameAs to link to Wikidata and DBpedia. Each link records its verification method, evidence URL and confidence in external_links.csv. High-confidence links were confirmed by opening the DBpedia page; medium ones are label matches on Wikidata. The two link sets are also declared as void:Linkset in the data file. Next, Minh presents the queries.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The notebook loads the Turtle file into two graphs: the raw graph and the graph after OWL RL reasoning. Reasoning adds 3,503 triples and no individual falls into owl:Nothing, so the data is consistent with the ontology. Before querying, the notebook runs checks derived from the axioms, such as banks without a type or unused locations; all return 0. These checks are needed because OWL makes the open-world assumption and does not flag missing values.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The notebook has 16 queries covering the main SPARQL 1.1 query forms: SELECT, ASK, CONSTRUCT, DESCRIBE, grouping, UNION, negation and federated SERVICE queries. Q2, Q4, Q7 and Q8 rely on the reasoner's output. The sparql() function accepts free queries, which serves as the terminal query interface.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These are two executed notebook cells. Q3 matches Hanoi's internal IRI directly, so it returns exactly 20 banks; without this, each bank would repeat through three equivalent IRIs and the result would be 60 rows. Q9 uses COUNT and GROUP BY, and the total is exactly 30 banks.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This is the most important query for the fifth star. The notebook takes the linked Wikidata IRIs, sends them to the Wikidata endpoint with the SERVICE keyword, and gets back labels and inception dates. So the links do not just sit in the file; they are actually used to fetch external data. The query ran successfully on Google Colab.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On the five-star scheme, the dataset reaches all five levels. Against the nine Linked Data best practices, we meet six, partly meet two and do not meet one. We also state three limitations: services are assigned by bank type, some Wikidata links are label matches only, and URIs are not dereferenceable because they use a placeholder domain.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In short, we brought public information on 30 Vietnamese banks up to five stars. The OWL 2 ontology answers all six competency questions, every external link carries evidence, and the notebook queries both our data and Wikidata. Future work is a Fuseki endpoint, more properties and links to FIBO. 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541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2B1A1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2B1A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541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2B1A1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2B1A1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1526"/>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9E1A2C"/>
              </a:gs>
              <a:gs pos="100000">
                <a:srgbClr val="7A1020"/>
              </a:gs>
            </a:gsLst>
            <a:lin ang="2700000" scaled="0"/>
          </a:gradFill>
          <a:ln/>
        </p:spPr>
        <p:txBody>
          <a:bodyPr/>
          <a:lstStyle/>
          <a:p>
            <a:endParaRPr lang="en-US"/>
          </a:p>
        </p:txBody>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3D3D7"/>
                </a:solidFill>
                <a:latin typeface="IBM Plex Sans" pitchFamily="34" charset="0"/>
                <a:ea typeface="IBM Plex Sans" pitchFamily="34" charset="-122"/>
                <a:cs typeface="IBM Plex Sans" pitchFamily="34" charset="-120"/>
              </a:rPr>
              <a:t>IT6390E SEMANTIC WEB · CAPSTONE PROJECT · GROUP 24</a:t>
            </a:r>
            <a:endParaRPr lang="en-US" sz="1400" dirty="0"/>
          </a:p>
        </p:txBody>
      </p:sp>
      <p:sp>
        <p:nvSpPr>
          <p:cNvPr id="4" name="Text 2"/>
          <p:cNvSpPr>
            <a:spLocks noGrp="1"/>
          </p:cNvSpPr>
          <p:nvPr>
            <p:ph type="title"/>
          </p:nvPr>
        </p:nvSpPr>
        <p:spPr>
          <a:xfrm>
            <a:off x="812800" y="1239507"/>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4F0"/>
                </a:solidFill>
                <a:latin typeface="Source Serif 4" pitchFamily="18" charset="0"/>
                <a:ea typeface="Source Serif 4" pitchFamily="18" charset="-122"/>
                <a:cs typeface="Source Serif 4" pitchFamily="18" charset="-120"/>
              </a:rPr>
              <a:t>VNBank-LOD</a:t>
            </a:r>
            <a:endParaRPr lang="en-US" sz="6400" dirty="0"/>
          </a:p>
        </p:txBody>
      </p:sp>
      <p:sp>
        <p:nvSpPr>
          <p:cNvPr id="5" name="Text 3"/>
          <p:cNvSpPr/>
          <p:nvPr/>
        </p:nvSpPr>
        <p:spPr>
          <a:xfrm>
            <a:off x="812800" y="2270720"/>
            <a:ext cx="9156700" cy="850900"/>
          </a:xfrm>
          <a:prstGeom prst="rect">
            <a:avLst/>
          </a:prstGeom>
          <a:noFill/>
          <a:ln/>
        </p:spPr>
        <p:txBody>
          <a:bodyPr wrap="square" lIns="0" tIns="0" rIns="0" bIns="0" rtlCol="0" anchor="t">
            <a:normAutofit/>
          </a:bodyPr>
          <a:lstStyle/>
          <a:p>
            <a:pPr marL="0" indent="0" algn="l">
              <a:lnSpc>
                <a:spcPts val="3250"/>
              </a:lnSpc>
              <a:buNone/>
            </a:pPr>
            <a:r>
              <a:rPr lang="en-US" sz="2600" dirty="0">
                <a:solidFill>
                  <a:srgbClr val="F7E4E6"/>
                </a:solidFill>
                <a:latin typeface="Source Serif 4" pitchFamily="18" charset="0"/>
                <a:ea typeface="Source Serif 4" pitchFamily="18" charset="-122"/>
                <a:cs typeface="Source Serif 4" pitchFamily="18" charset="-120"/>
              </a:rPr>
              <a:t>A five-star Linked Open Data application for the Vietnamese banking system</a:t>
            </a:r>
            <a:endParaRPr lang="en-US" sz="2600" dirty="0"/>
          </a:p>
        </p:txBody>
      </p:sp>
      <p:sp>
        <p:nvSpPr>
          <p:cNvPr id="6" name="Shape 4"/>
          <p:cNvSpPr/>
          <p:nvPr/>
        </p:nvSpPr>
        <p:spPr>
          <a:xfrm>
            <a:off x="831850" y="4813300"/>
            <a:ext cx="0" cy="1231900"/>
          </a:xfrm>
          <a:prstGeom prst="line">
            <a:avLst/>
          </a:prstGeom>
          <a:noFill/>
          <a:ln w="38100">
            <a:solidFill>
              <a:srgbClr val="F3D3D7"/>
            </a:solidFill>
            <a:prstDash val="solid"/>
          </a:ln>
        </p:spPr>
        <p:txBody>
          <a:bodyPr/>
          <a:lstStyle/>
          <a:p>
            <a:endParaRPr lang="en-US"/>
          </a:p>
        </p:txBody>
      </p:sp>
      <p:sp>
        <p:nvSpPr>
          <p:cNvPr id="7" name="Text 5"/>
          <p:cNvSpPr/>
          <p:nvPr/>
        </p:nvSpPr>
        <p:spPr>
          <a:xfrm>
            <a:off x="1054100" y="4838700"/>
            <a:ext cx="4452363" cy="292100"/>
          </a:xfrm>
          <a:prstGeom prst="rect">
            <a:avLst/>
          </a:prstGeom>
          <a:noFill/>
          <a:ln/>
        </p:spPr>
        <p:txBody>
          <a:bodyPr wrap="none" lIns="0" tIns="0" rIns="0" bIns="0" rtlCol="0" anchor="t">
            <a:no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Đinh Thị Lan Hương · 20261261M</a:t>
            </a:r>
            <a:endParaRPr lang="en-US" sz="1500" dirty="0"/>
          </a:p>
        </p:txBody>
      </p:sp>
      <p:sp>
        <p:nvSpPr>
          <p:cNvPr id="8" name="Text 6"/>
          <p:cNvSpPr/>
          <p:nvPr/>
        </p:nvSpPr>
        <p:spPr>
          <a:xfrm>
            <a:off x="1054100" y="5143500"/>
            <a:ext cx="4452363" cy="292100"/>
          </a:xfrm>
          <a:prstGeom prst="rect">
            <a:avLst/>
          </a:prstGeom>
          <a:noFill/>
          <a:ln/>
        </p:spPr>
        <p:txBody>
          <a:bodyPr wrap="none" lIns="0" tIns="0" rIns="0" bIns="0" rtlCol="0" anchor="t">
            <a:no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Vũ Đức Thành · 20261082M</a:t>
            </a:r>
            <a:endParaRPr lang="en-US" sz="1500" dirty="0"/>
          </a:p>
        </p:txBody>
      </p:sp>
      <p:sp>
        <p:nvSpPr>
          <p:cNvPr id="9" name="Text 7"/>
          <p:cNvSpPr/>
          <p:nvPr/>
        </p:nvSpPr>
        <p:spPr>
          <a:xfrm>
            <a:off x="1054100" y="5448300"/>
            <a:ext cx="4452363" cy="292100"/>
          </a:xfrm>
          <a:prstGeom prst="rect">
            <a:avLst/>
          </a:prstGeom>
          <a:noFill/>
          <a:ln/>
        </p:spPr>
        <p:txBody>
          <a:bodyPr wrap="none" lIns="0" tIns="0" rIns="0" bIns="0" rtlCol="0" anchor="t">
            <a:no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Nguyễn Khắc Duy Ngọc · 20261206M</a:t>
            </a:r>
            <a:endParaRPr lang="en-US" sz="1500" dirty="0"/>
          </a:p>
        </p:txBody>
      </p:sp>
      <p:sp>
        <p:nvSpPr>
          <p:cNvPr id="10" name="Text 8"/>
          <p:cNvSpPr/>
          <p:nvPr/>
        </p:nvSpPr>
        <p:spPr>
          <a:xfrm>
            <a:off x="1054100" y="5753100"/>
            <a:ext cx="329804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Ngô Quang Minh · 20252084M</a:t>
            </a:r>
            <a:endParaRPr lang="en-US" sz="1500" dirty="0"/>
          </a:p>
        </p:txBody>
      </p:sp>
      <p:sp>
        <p:nvSpPr>
          <p:cNvPr id="11" name="Text 9"/>
          <p:cNvSpPr/>
          <p:nvPr/>
        </p:nvSpPr>
        <p:spPr>
          <a:xfrm>
            <a:off x="4865688" y="5168966"/>
            <a:ext cx="4741386"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F3D3D7"/>
                </a:solidFill>
                <a:latin typeface="IBM Plex Sans" pitchFamily="34" charset="0"/>
                <a:ea typeface="IBM Plex Sans" pitchFamily="34" charset="-122"/>
                <a:cs typeface="IBM Plex Sans" pitchFamily="34" charset="-120"/>
              </a:rPr>
              <a:t>Supervisor</a:t>
            </a:r>
            <a:endParaRPr lang="en-US" sz="1400" dirty="0"/>
          </a:p>
        </p:txBody>
      </p:sp>
      <p:sp>
        <p:nvSpPr>
          <p:cNvPr id="12" name="Text 10"/>
          <p:cNvSpPr/>
          <p:nvPr/>
        </p:nvSpPr>
        <p:spPr>
          <a:xfrm>
            <a:off x="4865688" y="5455973"/>
            <a:ext cx="4741386" cy="327620"/>
          </a:xfrm>
          <a:prstGeom prst="rect">
            <a:avLst/>
          </a:prstGeom>
          <a:noFill/>
          <a:ln/>
        </p:spPr>
        <p:txBody>
          <a:bodyPr wrap="none" lIns="0" tIns="0" rIns="0" bIns="0" rtlCol="0" anchor="t">
            <a:noAutofit/>
          </a:bodyPr>
          <a:lstStyle/>
          <a:p>
            <a:pPr marL="0" indent="0" algn="l">
              <a:lnSpc>
                <a:spcPts val="2380"/>
              </a:lnSpc>
              <a:buNone/>
            </a:pPr>
            <a:r>
              <a:rPr lang="en-US" sz="1700" b="1" dirty="0">
                <a:solidFill>
                  <a:srgbClr val="FBF4F0"/>
                </a:solidFill>
                <a:latin typeface="IBM Plex Sans" pitchFamily="34" charset="0"/>
                <a:ea typeface="IBM Plex Sans" pitchFamily="34" charset="-122"/>
                <a:cs typeface="IBM Plex Sans" pitchFamily="34" charset="-120"/>
              </a:rPr>
              <a:t>Dr. Đỗ Bá Lâm</a:t>
            </a:r>
            <a:endParaRPr lang="en-US" sz="1700" dirty="0"/>
          </a:p>
        </p:txBody>
      </p:sp>
      <p:sp>
        <p:nvSpPr>
          <p:cNvPr id="13" name="Text 11"/>
          <p:cNvSpPr/>
          <p:nvPr/>
        </p:nvSpPr>
        <p:spPr>
          <a:xfrm>
            <a:off x="4865688" y="5796293"/>
            <a:ext cx="5523945"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F3D3D7"/>
                </a:solidFill>
                <a:latin typeface="IBM Plex Sans" pitchFamily="34" charset="0"/>
                <a:ea typeface="IBM Plex Sans" pitchFamily="34" charset="-122"/>
                <a:cs typeface="IBM Plex Sans" pitchFamily="34" charset="-120"/>
              </a:rPr>
              <a:t>Hanoi University of Science and Technology · 10 Oct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a:lnSpc>
                <a:spcPts val="2100"/>
              </a:lnSpc>
            </a:pPr>
            <a:r>
              <a:rPr lang="en-US" b="1" kern="0" spc="100">
                <a:solidFill>
                  <a:srgbClr val="A6192E"/>
                </a:solidFill>
                <a:latin typeface="IBM Plex Sans" pitchFamily="34" charset="0"/>
                <a:ea typeface="IBM Plex Sans" pitchFamily="34" charset="-122"/>
                <a:cs typeface="IBM Plex Sans" pitchFamily="34" charset="-120"/>
              </a:rPr>
              <a:t>OUTLINE</a:t>
            </a:r>
            <a:endParaRPr lang="en-US" dirty="0"/>
          </a:p>
        </p:txBody>
      </p:sp>
      <p:sp>
        <p:nvSpPr>
          <p:cNvPr id="4" name="Shape 2"/>
          <p:cNvSpPr/>
          <p:nvPr/>
        </p:nvSpPr>
        <p:spPr>
          <a:xfrm>
            <a:off x="605663" y="1810047"/>
            <a:ext cx="5187950" cy="1391444"/>
          </a:xfrm>
          <a:prstGeom prst="roundRect">
            <a:avLst>
              <a:gd name="adj" fmla="val 4335"/>
            </a:avLst>
          </a:prstGeom>
          <a:solidFill>
            <a:srgbClr val="FFFDFB"/>
          </a:solidFill>
          <a:ln w="6350">
            <a:solidFill>
              <a:srgbClr val="E6D9D6"/>
            </a:solidFill>
            <a:prstDash val="solid"/>
          </a:ln>
        </p:spPr>
        <p:txBody>
          <a:bodyPr/>
          <a:lstStyle/>
          <a:p>
            <a:endParaRPr lang="en-US"/>
          </a:p>
        </p:txBody>
      </p:sp>
      <p:sp>
        <p:nvSpPr>
          <p:cNvPr id="5" name="Text 3"/>
          <p:cNvSpPr/>
          <p:nvPr/>
        </p:nvSpPr>
        <p:spPr>
          <a:xfrm>
            <a:off x="835321" y="2014305"/>
            <a:ext cx="48704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PART 1 · about 2.5 min</a:t>
            </a:r>
            <a:endParaRPr lang="en-US" sz="1500" dirty="0"/>
          </a:p>
        </p:txBody>
      </p:sp>
      <p:sp>
        <p:nvSpPr>
          <p:cNvPr id="6" name="Text 4"/>
          <p:cNvSpPr/>
          <p:nvPr/>
        </p:nvSpPr>
        <p:spPr>
          <a:xfrm>
            <a:off x="835321" y="2344505"/>
            <a:ext cx="48704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B1A1C"/>
                </a:solidFill>
                <a:latin typeface="Source Serif 4" pitchFamily="18" charset="0"/>
                <a:ea typeface="Source Serif 4" pitchFamily="18" charset="-122"/>
                <a:cs typeface="Source Serif 4" pitchFamily="18" charset="-120"/>
              </a:rPr>
              <a:t>Problem, scope and data</a:t>
            </a:r>
            <a:endParaRPr lang="en-US" sz="2000" dirty="0"/>
          </a:p>
        </p:txBody>
      </p:sp>
      <p:sp>
        <p:nvSpPr>
          <p:cNvPr id="7" name="Text 5"/>
          <p:cNvSpPr/>
          <p:nvPr/>
        </p:nvSpPr>
        <p:spPr>
          <a:xfrm>
            <a:off x="835321" y="2712805"/>
            <a:ext cx="48704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4A4B"/>
                </a:solidFill>
                <a:latin typeface="IBM Plex Sans" pitchFamily="34" charset="0"/>
                <a:ea typeface="IBM Plex Sans" pitchFamily="34" charset="-122"/>
                <a:cs typeface="IBM Plex Sans" pitchFamily="34" charset="-120"/>
              </a:rPr>
              <a:t>Đinh Thị Lan Hương</a:t>
            </a:r>
            <a:endParaRPr lang="en-US" sz="1600" dirty="0"/>
          </a:p>
        </p:txBody>
      </p:sp>
      <p:sp>
        <p:nvSpPr>
          <p:cNvPr id="8" name="Shape 6"/>
          <p:cNvSpPr/>
          <p:nvPr/>
        </p:nvSpPr>
        <p:spPr>
          <a:xfrm>
            <a:off x="5977763" y="1810047"/>
            <a:ext cx="5187950" cy="1391444"/>
          </a:xfrm>
          <a:prstGeom prst="roundRect">
            <a:avLst>
              <a:gd name="adj" fmla="val 4335"/>
            </a:avLst>
          </a:prstGeom>
          <a:solidFill>
            <a:srgbClr val="FFFDFB"/>
          </a:solidFill>
          <a:ln w="6350">
            <a:solidFill>
              <a:srgbClr val="E6D9D6"/>
            </a:solidFill>
            <a:prstDash val="solid"/>
          </a:ln>
        </p:spPr>
        <p:txBody>
          <a:bodyPr/>
          <a:lstStyle/>
          <a:p>
            <a:endParaRPr lang="en-US"/>
          </a:p>
        </p:txBody>
      </p:sp>
      <p:sp>
        <p:nvSpPr>
          <p:cNvPr id="9" name="Text 7"/>
          <p:cNvSpPr/>
          <p:nvPr/>
        </p:nvSpPr>
        <p:spPr>
          <a:xfrm>
            <a:off x="6207421" y="2014305"/>
            <a:ext cx="48704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PART 2 · about 2.5 min</a:t>
            </a:r>
            <a:endParaRPr lang="en-US" sz="1500" dirty="0"/>
          </a:p>
        </p:txBody>
      </p:sp>
      <p:sp>
        <p:nvSpPr>
          <p:cNvPr id="10" name="Text 8"/>
          <p:cNvSpPr/>
          <p:nvPr/>
        </p:nvSpPr>
        <p:spPr>
          <a:xfrm>
            <a:off x="6207421" y="2344505"/>
            <a:ext cx="48704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B1A1C"/>
                </a:solidFill>
                <a:latin typeface="Source Serif 4" pitchFamily="18" charset="0"/>
                <a:ea typeface="Source Serif 4" pitchFamily="18" charset="-122"/>
                <a:cs typeface="Source Serif 4" pitchFamily="18" charset="-120"/>
              </a:rPr>
              <a:t>Ontology design and Protégé</a:t>
            </a:r>
            <a:endParaRPr lang="en-US" sz="2000" dirty="0"/>
          </a:p>
        </p:txBody>
      </p:sp>
      <p:sp>
        <p:nvSpPr>
          <p:cNvPr id="11" name="Text 9"/>
          <p:cNvSpPr/>
          <p:nvPr/>
        </p:nvSpPr>
        <p:spPr>
          <a:xfrm>
            <a:off x="6207421" y="2712805"/>
            <a:ext cx="48704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4A4B"/>
                </a:solidFill>
                <a:latin typeface="IBM Plex Sans" pitchFamily="34" charset="0"/>
                <a:ea typeface="IBM Plex Sans" pitchFamily="34" charset="-122"/>
                <a:cs typeface="IBM Plex Sans" pitchFamily="34" charset="-120"/>
              </a:rPr>
              <a:t>Vũ Đức Thành</a:t>
            </a:r>
            <a:endParaRPr lang="en-US" sz="1600" dirty="0"/>
          </a:p>
        </p:txBody>
      </p:sp>
      <p:sp>
        <p:nvSpPr>
          <p:cNvPr id="12" name="Shape 10"/>
          <p:cNvSpPr/>
          <p:nvPr/>
        </p:nvSpPr>
        <p:spPr>
          <a:xfrm>
            <a:off x="605663" y="3385641"/>
            <a:ext cx="5187950" cy="1391444"/>
          </a:xfrm>
          <a:prstGeom prst="roundRect">
            <a:avLst>
              <a:gd name="adj" fmla="val 4335"/>
            </a:avLst>
          </a:prstGeom>
          <a:solidFill>
            <a:srgbClr val="FFFDFB"/>
          </a:solidFill>
          <a:ln w="6350">
            <a:solidFill>
              <a:srgbClr val="E6D9D6"/>
            </a:solidFill>
            <a:prstDash val="solid"/>
          </a:ln>
        </p:spPr>
        <p:txBody>
          <a:bodyPr/>
          <a:lstStyle/>
          <a:p>
            <a:endParaRPr lang="en-US"/>
          </a:p>
        </p:txBody>
      </p:sp>
      <p:sp>
        <p:nvSpPr>
          <p:cNvPr id="13" name="Text 11"/>
          <p:cNvSpPr/>
          <p:nvPr/>
        </p:nvSpPr>
        <p:spPr>
          <a:xfrm>
            <a:off x="835321" y="3589899"/>
            <a:ext cx="48704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PART 3 · about 2.5 min</a:t>
            </a:r>
            <a:endParaRPr lang="en-US" sz="1500" dirty="0"/>
          </a:p>
        </p:txBody>
      </p:sp>
      <p:sp>
        <p:nvSpPr>
          <p:cNvPr id="14" name="Text 12"/>
          <p:cNvSpPr/>
          <p:nvPr/>
        </p:nvSpPr>
        <p:spPr>
          <a:xfrm>
            <a:off x="835321" y="3920099"/>
            <a:ext cx="48704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B1A1C"/>
                </a:solidFill>
                <a:latin typeface="Source Serif 4" pitchFamily="18" charset="0"/>
                <a:ea typeface="Source Serif 4" pitchFamily="18" charset="-122"/>
                <a:cs typeface="Source Serif 4" pitchFamily="18" charset="-120"/>
              </a:rPr>
              <a:t>4-star RDF and 5-star linking</a:t>
            </a:r>
            <a:endParaRPr lang="en-US" sz="2000" dirty="0"/>
          </a:p>
        </p:txBody>
      </p:sp>
      <p:sp>
        <p:nvSpPr>
          <p:cNvPr id="15" name="Text 13"/>
          <p:cNvSpPr/>
          <p:nvPr/>
        </p:nvSpPr>
        <p:spPr>
          <a:xfrm>
            <a:off x="835321" y="4288399"/>
            <a:ext cx="48704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4A4B"/>
                </a:solidFill>
                <a:latin typeface="IBM Plex Sans" pitchFamily="34" charset="0"/>
                <a:ea typeface="IBM Plex Sans" pitchFamily="34" charset="-122"/>
                <a:cs typeface="IBM Plex Sans" pitchFamily="34" charset="-120"/>
              </a:rPr>
              <a:t>Nguyễn Khắc Duy Ngọc</a:t>
            </a:r>
            <a:endParaRPr lang="en-US" sz="1600" dirty="0"/>
          </a:p>
        </p:txBody>
      </p:sp>
      <p:sp>
        <p:nvSpPr>
          <p:cNvPr id="16" name="Shape 14"/>
          <p:cNvSpPr/>
          <p:nvPr/>
        </p:nvSpPr>
        <p:spPr>
          <a:xfrm>
            <a:off x="5977763" y="3385641"/>
            <a:ext cx="5187950" cy="1391444"/>
          </a:xfrm>
          <a:prstGeom prst="roundRect">
            <a:avLst>
              <a:gd name="adj" fmla="val 4335"/>
            </a:avLst>
          </a:prstGeom>
          <a:solidFill>
            <a:srgbClr val="FFFDFB"/>
          </a:solidFill>
          <a:ln w="6350">
            <a:solidFill>
              <a:srgbClr val="E6D9D6"/>
            </a:solidFill>
            <a:prstDash val="solid"/>
          </a:ln>
        </p:spPr>
        <p:txBody>
          <a:bodyPr/>
          <a:lstStyle/>
          <a:p>
            <a:endParaRPr lang="en-US"/>
          </a:p>
        </p:txBody>
      </p:sp>
      <p:sp>
        <p:nvSpPr>
          <p:cNvPr id="17" name="Text 15"/>
          <p:cNvSpPr/>
          <p:nvPr/>
        </p:nvSpPr>
        <p:spPr>
          <a:xfrm>
            <a:off x="6207421" y="3589899"/>
            <a:ext cx="48704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PART 4 · about 2.5 min</a:t>
            </a:r>
            <a:endParaRPr lang="en-US" sz="1500" dirty="0"/>
          </a:p>
        </p:txBody>
      </p:sp>
      <p:sp>
        <p:nvSpPr>
          <p:cNvPr id="18" name="Text 16"/>
          <p:cNvSpPr/>
          <p:nvPr/>
        </p:nvSpPr>
        <p:spPr>
          <a:xfrm>
            <a:off x="6207421" y="3920099"/>
            <a:ext cx="48704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B1A1C"/>
                </a:solidFill>
                <a:latin typeface="Source Serif 4" pitchFamily="18" charset="0"/>
                <a:ea typeface="Source Serif 4" pitchFamily="18" charset="-122"/>
                <a:cs typeface="Source Serif 4" pitchFamily="18" charset="-120"/>
              </a:rPr>
              <a:t>SPARQL, reasoning and evaluation</a:t>
            </a:r>
            <a:endParaRPr lang="en-US" sz="2000" dirty="0"/>
          </a:p>
        </p:txBody>
      </p:sp>
      <p:sp>
        <p:nvSpPr>
          <p:cNvPr id="19" name="Text 17"/>
          <p:cNvSpPr/>
          <p:nvPr/>
        </p:nvSpPr>
        <p:spPr>
          <a:xfrm>
            <a:off x="6207421" y="4288399"/>
            <a:ext cx="48704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4A4B"/>
                </a:solidFill>
                <a:latin typeface="IBM Plex Sans" pitchFamily="34" charset="0"/>
                <a:ea typeface="IBM Plex Sans" pitchFamily="34" charset="-122"/>
                <a:cs typeface="IBM Plex Sans" pitchFamily="34" charset="-120"/>
              </a:rPr>
              <a:t>Ngô Quang Minh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1 · PROBLEM</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From scattered information to five-star data</a:t>
            </a:r>
            <a:endParaRPr lang="en-US" sz="3200" dirty="0"/>
          </a:p>
        </p:txBody>
      </p:sp>
      <p:sp>
        <p:nvSpPr>
          <p:cNvPr id="4" name="Text 2"/>
          <p:cNvSpPr/>
          <p:nvPr/>
        </p:nvSpPr>
        <p:spPr>
          <a:xfrm>
            <a:off x="812800" y="2789371"/>
            <a:ext cx="5153914" cy="1277408"/>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3D3031"/>
                </a:solidFill>
                <a:latin typeface="IBM Plex Sans" pitchFamily="34" charset="0"/>
                <a:ea typeface="IBM Plex Sans" pitchFamily="34" charset="-122"/>
                <a:cs typeface="IBM Plex Sans" pitchFamily="34" charset="-120"/>
              </a:rPr>
              <a:t>Information about Vietnamese banks is scattered across bank websites, the State Bank of Vietnam and the stock exchanges, as HTML, PDF and spreadsheets.</a:t>
            </a:r>
            <a:endParaRPr lang="en-US" sz="1700" dirty="0"/>
          </a:p>
        </p:txBody>
      </p:sp>
      <p:sp>
        <p:nvSpPr>
          <p:cNvPr id="5" name="Text 3"/>
          <p:cNvSpPr/>
          <p:nvPr/>
        </p:nvSpPr>
        <p:spPr>
          <a:xfrm>
            <a:off x="812800" y="4193778"/>
            <a:ext cx="5153914" cy="964406"/>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3D3031"/>
                </a:solidFill>
                <a:latin typeface="IBM Plex Sans" pitchFamily="34" charset="0"/>
                <a:ea typeface="IBM Plex Sans" pitchFamily="34" charset="-122"/>
                <a:cs typeface="IBM Plex Sans" pitchFamily="34" charset="-120"/>
              </a:rPr>
              <a:t>These sources share no identifiers or schema, so machines cannot connect or query them. Our goal is to bring this data to five stars.</a:t>
            </a:r>
            <a:endParaRPr lang="en-US" sz="1700" dirty="0"/>
          </a:p>
        </p:txBody>
      </p:sp>
      <p:sp>
        <p:nvSpPr>
          <p:cNvPr id="6" name="Shape 4"/>
          <p:cNvSpPr/>
          <p:nvPr/>
        </p:nvSpPr>
        <p:spPr>
          <a:xfrm>
            <a:off x="6172200" y="2589609"/>
            <a:ext cx="3302000" cy="487627"/>
          </a:xfrm>
          <a:prstGeom prst="roundRect">
            <a:avLst>
              <a:gd name="adj" fmla="val 10418"/>
            </a:avLst>
          </a:prstGeom>
          <a:solidFill>
            <a:srgbClr val="F6E7E8"/>
          </a:solidFill>
          <a:ln/>
        </p:spPr>
        <p:txBody>
          <a:bodyPr/>
          <a:lstStyle/>
          <a:p>
            <a:endParaRPr lang="en-US"/>
          </a:p>
        </p:txBody>
      </p:sp>
      <p:sp>
        <p:nvSpPr>
          <p:cNvPr id="7" name="Text 5"/>
          <p:cNvSpPr/>
          <p:nvPr/>
        </p:nvSpPr>
        <p:spPr>
          <a:xfrm>
            <a:off x="6350000" y="2691209"/>
            <a:ext cx="4953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6192E"/>
                </a:solidFill>
                <a:latin typeface="IBM Plex Sans" pitchFamily="34" charset="0"/>
                <a:ea typeface="IBM Plex Sans" pitchFamily="34" charset="-122"/>
                <a:cs typeface="IBM Plex Sans" pitchFamily="34" charset="-120"/>
              </a:rPr>
              <a:t>1</a:t>
            </a:r>
            <a:endParaRPr lang="en-US" sz="1600" dirty="0"/>
          </a:p>
        </p:txBody>
      </p:sp>
      <p:sp>
        <p:nvSpPr>
          <p:cNvPr id="8" name="Text 6"/>
          <p:cNvSpPr/>
          <p:nvPr/>
        </p:nvSpPr>
        <p:spPr>
          <a:xfrm>
            <a:off x="6946900" y="2691209"/>
            <a:ext cx="25273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B1F20"/>
                </a:solidFill>
                <a:latin typeface="IBM Plex Sans" pitchFamily="34" charset="0"/>
                <a:ea typeface="IBM Plex Sans" pitchFamily="34" charset="-122"/>
                <a:cs typeface="IBM Plex Sans" pitchFamily="34" charset="-120"/>
              </a:rPr>
              <a:t>On the web, open licence</a:t>
            </a:r>
            <a:endParaRPr lang="en-US" sz="1600" dirty="0"/>
          </a:p>
        </p:txBody>
      </p:sp>
      <p:sp>
        <p:nvSpPr>
          <p:cNvPr id="9" name="Shape 7"/>
          <p:cNvSpPr/>
          <p:nvPr/>
        </p:nvSpPr>
        <p:spPr>
          <a:xfrm>
            <a:off x="6172200" y="3153437"/>
            <a:ext cx="3778250" cy="487627"/>
          </a:xfrm>
          <a:prstGeom prst="roundRect">
            <a:avLst>
              <a:gd name="adj" fmla="val 10418"/>
            </a:avLst>
          </a:prstGeom>
          <a:solidFill>
            <a:srgbClr val="EFCFD3"/>
          </a:solidFill>
          <a:ln/>
        </p:spPr>
        <p:txBody>
          <a:bodyPr/>
          <a:lstStyle/>
          <a:p>
            <a:endParaRPr lang="en-US"/>
          </a:p>
        </p:txBody>
      </p:sp>
      <p:sp>
        <p:nvSpPr>
          <p:cNvPr id="10" name="Text 8"/>
          <p:cNvSpPr/>
          <p:nvPr/>
        </p:nvSpPr>
        <p:spPr>
          <a:xfrm>
            <a:off x="6350000" y="3255037"/>
            <a:ext cx="4953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6192E"/>
                </a:solidFill>
                <a:latin typeface="IBM Plex Sans" pitchFamily="34" charset="0"/>
                <a:ea typeface="IBM Plex Sans" pitchFamily="34" charset="-122"/>
                <a:cs typeface="IBM Plex Sans" pitchFamily="34" charset="-120"/>
              </a:rPr>
              <a:t>2</a:t>
            </a:r>
            <a:endParaRPr lang="en-US" sz="1600" dirty="0"/>
          </a:p>
        </p:txBody>
      </p:sp>
      <p:sp>
        <p:nvSpPr>
          <p:cNvPr id="11" name="Text 9"/>
          <p:cNvSpPr/>
          <p:nvPr/>
        </p:nvSpPr>
        <p:spPr>
          <a:xfrm>
            <a:off x="6946900" y="3255037"/>
            <a:ext cx="300355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B1F20"/>
                </a:solidFill>
                <a:latin typeface="IBM Plex Sans" pitchFamily="34" charset="0"/>
                <a:ea typeface="IBM Plex Sans" pitchFamily="34" charset="-122"/>
                <a:cs typeface="IBM Plex Sans" pitchFamily="34" charset="-120"/>
              </a:rPr>
              <a:t>Structured, machine-readable</a:t>
            </a:r>
            <a:endParaRPr lang="en-US" sz="1600" dirty="0"/>
          </a:p>
        </p:txBody>
      </p:sp>
      <p:sp>
        <p:nvSpPr>
          <p:cNvPr id="12" name="Shape 10"/>
          <p:cNvSpPr/>
          <p:nvPr/>
        </p:nvSpPr>
        <p:spPr>
          <a:xfrm>
            <a:off x="6172200" y="3717265"/>
            <a:ext cx="4254500" cy="487627"/>
          </a:xfrm>
          <a:prstGeom prst="roundRect">
            <a:avLst>
              <a:gd name="adj" fmla="val 10418"/>
            </a:avLst>
          </a:prstGeom>
          <a:solidFill>
            <a:srgbClr val="E3B1B8"/>
          </a:solidFill>
          <a:ln/>
        </p:spPr>
        <p:txBody>
          <a:bodyPr/>
          <a:lstStyle/>
          <a:p>
            <a:endParaRPr lang="en-US"/>
          </a:p>
        </p:txBody>
      </p:sp>
      <p:sp>
        <p:nvSpPr>
          <p:cNvPr id="13" name="Text 11"/>
          <p:cNvSpPr/>
          <p:nvPr/>
        </p:nvSpPr>
        <p:spPr>
          <a:xfrm>
            <a:off x="6350000" y="3818865"/>
            <a:ext cx="4953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1020"/>
                </a:solidFill>
                <a:latin typeface="IBM Plex Sans" pitchFamily="34" charset="0"/>
                <a:ea typeface="IBM Plex Sans" pitchFamily="34" charset="-122"/>
                <a:cs typeface="IBM Plex Sans" pitchFamily="34" charset="-120"/>
              </a:rPr>
              <a:t>3</a:t>
            </a:r>
            <a:endParaRPr lang="en-US" sz="1600" dirty="0"/>
          </a:p>
        </p:txBody>
      </p:sp>
      <p:sp>
        <p:nvSpPr>
          <p:cNvPr id="14" name="Text 12"/>
          <p:cNvSpPr/>
          <p:nvPr/>
        </p:nvSpPr>
        <p:spPr>
          <a:xfrm>
            <a:off x="6946900" y="3818865"/>
            <a:ext cx="279050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B1F20"/>
                </a:solidFill>
                <a:latin typeface="IBM Plex Sans" pitchFamily="34" charset="0"/>
                <a:ea typeface="IBM Plex Sans" pitchFamily="34" charset="-122"/>
                <a:cs typeface="IBM Plex Sans" pitchFamily="34" charset="-120"/>
              </a:rPr>
              <a:t>Open format (CSV, Turtle)</a:t>
            </a:r>
            <a:endParaRPr lang="en-US" sz="1600" dirty="0"/>
          </a:p>
        </p:txBody>
      </p:sp>
      <p:sp>
        <p:nvSpPr>
          <p:cNvPr id="15" name="Shape 13"/>
          <p:cNvSpPr/>
          <p:nvPr/>
        </p:nvSpPr>
        <p:spPr>
          <a:xfrm>
            <a:off x="6172200" y="4281091"/>
            <a:ext cx="4730750" cy="487627"/>
          </a:xfrm>
          <a:prstGeom prst="roundRect">
            <a:avLst>
              <a:gd name="adj" fmla="val 10418"/>
            </a:avLst>
          </a:prstGeom>
          <a:solidFill>
            <a:srgbClr val="C2485A"/>
          </a:solidFill>
          <a:ln/>
        </p:spPr>
        <p:txBody>
          <a:bodyPr/>
          <a:lstStyle/>
          <a:p>
            <a:endParaRPr lang="en-US"/>
          </a:p>
        </p:txBody>
      </p:sp>
      <p:sp>
        <p:nvSpPr>
          <p:cNvPr id="16" name="Text 14"/>
          <p:cNvSpPr/>
          <p:nvPr/>
        </p:nvSpPr>
        <p:spPr>
          <a:xfrm>
            <a:off x="6350000" y="4382691"/>
            <a:ext cx="4953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4</a:t>
            </a:r>
            <a:endParaRPr lang="en-US" sz="1600" dirty="0"/>
          </a:p>
        </p:txBody>
      </p:sp>
      <p:sp>
        <p:nvSpPr>
          <p:cNvPr id="17" name="Text 15"/>
          <p:cNvSpPr/>
          <p:nvPr/>
        </p:nvSpPr>
        <p:spPr>
          <a:xfrm>
            <a:off x="6946900" y="4382691"/>
            <a:ext cx="340915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4F0"/>
                </a:solidFill>
                <a:latin typeface="IBM Plex Sans" pitchFamily="34" charset="0"/>
                <a:ea typeface="IBM Plex Sans" pitchFamily="34" charset="-122"/>
                <a:cs typeface="IBM Plex Sans" pitchFamily="34" charset="-120"/>
              </a:rPr>
              <a:t>W3C standards: RDF, own URIs</a:t>
            </a:r>
            <a:endParaRPr lang="en-US" sz="1600" dirty="0"/>
          </a:p>
        </p:txBody>
      </p:sp>
      <p:sp>
        <p:nvSpPr>
          <p:cNvPr id="18" name="Shape 16"/>
          <p:cNvSpPr/>
          <p:nvPr/>
        </p:nvSpPr>
        <p:spPr>
          <a:xfrm>
            <a:off x="6172200" y="4844918"/>
            <a:ext cx="5207000" cy="487627"/>
          </a:xfrm>
          <a:prstGeom prst="roundRect">
            <a:avLst>
              <a:gd name="adj" fmla="val 10418"/>
            </a:avLst>
          </a:prstGeom>
          <a:solidFill>
            <a:srgbClr val="A6192E"/>
          </a:solidFill>
          <a:ln/>
        </p:spPr>
        <p:txBody>
          <a:bodyPr/>
          <a:lstStyle/>
          <a:p>
            <a:endParaRPr lang="en-US"/>
          </a:p>
        </p:txBody>
      </p:sp>
      <p:sp>
        <p:nvSpPr>
          <p:cNvPr id="19" name="Text 17"/>
          <p:cNvSpPr/>
          <p:nvPr/>
        </p:nvSpPr>
        <p:spPr>
          <a:xfrm>
            <a:off x="6350000" y="4946518"/>
            <a:ext cx="4953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5</a:t>
            </a:r>
            <a:endParaRPr lang="en-US" sz="1600" dirty="0"/>
          </a:p>
        </p:txBody>
      </p:sp>
      <p:sp>
        <p:nvSpPr>
          <p:cNvPr id="20" name="Text 18"/>
          <p:cNvSpPr/>
          <p:nvPr/>
        </p:nvSpPr>
        <p:spPr>
          <a:xfrm>
            <a:off x="6946900" y="4946518"/>
            <a:ext cx="306974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4F0"/>
                </a:solidFill>
                <a:latin typeface="IBM Plex Sans" pitchFamily="34" charset="0"/>
                <a:ea typeface="IBM Plex Sans" pitchFamily="34" charset="-122"/>
                <a:cs typeface="IBM Plex Sans" pitchFamily="34" charset="-120"/>
              </a:rPr>
              <a:t>Linked to Wikidata, DBpedia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1 · SCOPE</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a:lnSpc>
                <a:spcPts val="3680"/>
              </a:lnSpc>
            </a:pPr>
            <a:r>
              <a:rPr lang="en-US" sz="3200" b="1" i="0">
                <a:solidFill>
                  <a:srgbClr val="2B1A1C"/>
                </a:solidFill>
                <a:latin typeface="Source Serif 4" pitchFamily="18" charset="0"/>
                <a:ea typeface="Source Serif 4" pitchFamily="18" charset="-122"/>
                <a:cs typeface="Source Serif 4" pitchFamily="18" charset="-120"/>
              </a:rPr>
              <a:t>30 banks</a:t>
            </a:r>
            <a:r>
              <a:rPr lang="en-US" b="1">
                <a:latin typeface="Source Serif 4" pitchFamily="18" charset="0"/>
                <a:ea typeface="Source Serif 4" pitchFamily="18" charset="-122"/>
                <a:cs typeface="Source Serif 4" pitchFamily="18" charset="-120"/>
              </a:rPr>
              <a:t> (public data only)</a:t>
            </a:r>
            <a:endParaRPr lang="en-US" sz="3200" dirty="0"/>
          </a:p>
        </p:txBody>
      </p:sp>
      <p:sp>
        <p:nvSpPr>
          <p:cNvPr id="4" name="Text 2"/>
          <p:cNvSpPr/>
          <p:nvPr/>
        </p:nvSpPr>
        <p:spPr>
          <a:xfrm>
            <a:off x="812800" y="3001037"/>
            <a:ext cx="4055110" cy="9092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We weighed three options: basic information; adding deposit rates; adding branches and financial indicators.</a:t>
            </a:r>
            <a:endParaRPr lang="en-US" sz="1600" dirty="0"/>
          </a:p>
        </p:txBody>
      </p:sp>
      <p:sp>
        <p:nvSpPr>
          <p:cNvPr id="5" name="Text 3"/>
          <p:cNvSpPr/>
          <p:nvPr/>
        </p:nvSpPr>
        <p:spPr>
          <a:xfrm>
            <a:off x="812800" y="4011878"/>
            <a:ext cx="4055110" cy="9092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We chose the first to fit the time available, and excluded internal data because one star requires an open licence.</a:t>
            </a:r>
            <a:endParaRPr lang="en-US" sz="1600" dirty="0"/>
          </a:p>
        </p:txBody>
      </p:sp>
      <p:sp>
        <p:nvSpPr>
          <p:cNvPr id="6" name="Shape 4"/>
          <p:cNvSpPr/>
          <p:nvPr/>
        </p:nvSpPr>
        <p:spPr>
          <a:xfrm>
            <a:off x="11376025" y="2402219"/>
            <a:ext cx="0" cy="3092318"/>
          </a:xfrm>
          <a:prstGeom prst="line">
            <a:avLst/>
          </a:prstGeom>
          <a:noFill/>
          <a:ln w="6350">
            <a:solidFill>
              <a:srgbClr val="E6D9D6"/>
            </a:solidFill>
            <a:prstDash val="solid"/>
          </a:ln>
        </p:spPr>
        <p:txBody>
          <a:bodyPr/>
          <a:lstStyle/>
          <a:p>
            <a:endParaRPr lang="en-US"/>
          </a:p>
        </p:txBody>
      </p:sp>
      <p:sp>
        <p:nvSpPr>
          <p:cNvPr id="7" name="Shape 5"/>
          <p:cNvSpPr/>
          <p:nvPr/>
        </p:nvSpPr>
        <p:spPr>
          <a:xfrm>
            <a:off x="5105400" y="5491362"/>
            <a:ext cx="6273800" cy="0"/>
          </a:xfrm>
          <a:prstGeom prst="line">
            <a:avLst/>
          </a:prstGeom>
          <a:noFill/>
          <a:ln w="6350">
            <a:solidFill>
              <a:srgbClr val="E6D9D6"/>
            </a:solidFill>
            <a:prstDash val="solid"/>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18100" y="2414919"/>
          <a:ext cx="6256867" cy="3075387"/>
        </p:xfrm>
        <a:graphic>
          <a:graphicData uri="http://schemas.openxmlformats.org/drawingml/2006/table">
            <a:tbl>
              <a:tblPr/>
              <a:tblGrid>
                <a:gridCol w="2878159">
                  <a:extLst>
                    <a:ext uri="{9D8B030D-6E8A-4147-A177-3AD203B41FA5}">
                      <a16:colId xmlns:a16="http://schemas.microsoft.com/office/drawing/2014/main" val="20000"/>
                    </a:ext>
                  </a:extLst>
                </a:gridCol>
                <a:gridCol w="1689354">
                  <a:extLst>
                    <a:ext uri="{9D8B030D-6E8A-4147-A177-3AD203B41FA5}">
                      <a16:colId xmlns:a16="http://schemas.microsoft.com/office/drawing/2014/main" val="20001"/>
                    </a:ext>
                  </a:extLst>
                </a:gridCol>
                <a:gridCol w="1689354">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Target</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Planned</a:t>
                      </a:r>
                      <a:endParaRPr lang="en-US" sz="1600" dirty="0">
                        <a:latin typeface="IBM Plex Sans" charset="0"/>
                        <a:ea typeface="IBM Plex Sans" charset="0"/>
                        <a:cs typeface="IBM Plex Sans" charset="0"/>
                      </a:endParaRPr>
                    </a:p>
                  </a:txBody>
                  <a:tcPr marL="71120" marR="71120" marT="71120" marB="71120">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Achieved</a:t>
                      </a:r>
                      <a:endParaRPr lang="en-US" sz="1600" dirty="0">
                        <a:latin typeface="IBM Plex Sans" charset="0"/>
                        <a:ea typeface="IBM Plex Sans" charset="0"/>
                        <a:cs typeface="IBM Plex Sans" charset="0"/>
                      </a:endParaRPr>
                    </a:p>
                  </a:txBody>
                  <a:tcPr marL="71120" marR="71120" marT="71120" marB="71120">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Banks</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30</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30</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 types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3 to 4</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5</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Linked banks</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at least 10</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24</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Linked locations</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all</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3/3</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Source, collection date</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every record</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met</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Stable internal URIs</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yes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met</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1 · DATA COLLECTION</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30 banks, every record sourced</a:t>
            </a:r>
            <a:endParaRPr lang="en-US" sz="3200" dirty="0"/>
          </a:p>
        </p:txBody>
      </p:sp>
      <p:sp>
        <p:nvSpPr>
          <p:cNvPr id="4" name="Shape 2"/>
          <p:cNvSpPr/>
          <p:nvPr/>
        </p:nvSpPr>
        <p:spPr>
          <a:xfrm>
            <a:off x="815975" y="2259146"/>
            <a:ext cx="3028950" cy="1091737"/>
          </a:xfrm>
          <a:prstGeom prst="roundRect">
            <a:avLst>
              <a:gd name="adj" fmla="val 5526"/>
            </a:avLst>
          </a:prstGeom>
          <a:solidFill>
            <a:srgbClr val="FFFDFB"/>
          </a:solidFill>
          <a:ln w="6350">
            <a:solidFill>
              <a:srgbClr val="E6D9D6"/>
            </a:solidFill>
            <a:prstDash val="solid"/>
          </a:ln>
        </p:spPr>
        <p:txBody>
          <a:bodyPr/>
          <a:lstStyle/>
          <a:p>
            <a:endParaRPr lang="en-US"/>
          </a:p>
        </p:txBody>
      </p:sp>
      <p:sp>
        <p:nvSpPr>
          <p:cNvPr id="5" name="Text 3"/>
          <p:cNvSpPr/>
          <p:nvPr/>
        </p:nvSpPr>
        <p:spPr>
          <a:xfrm>
            <a:off x="994833" y="2387203"/>
            <a:ext cx="275137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6192E"/>
                </a:solidFill>
                <a:latin typeface="Source Serif 4" pitchFamily="18" charset="0"/>
                <a:ea typeface="Source Serif 4" pitchFamily="18" charset="-122"/>
                <a:cs typeface="Source Serif 4" pitchFamily="18" charset="-120"/>
              </a:rPr>
              <a:t>30</a:t>
            </a:r>
            <a:endParaRPr lang="en-US" sz="3200" dirty="0"/>
          </a:p>
        </p:txBody>
      </p:sp>
      <p:sp>
        <p:nvSpPr>
          <p:cNvPr id="6" name="Text 4"/>
          <p:cNvSpPr/>
          <p:nvPr/>
        </p:nvSpPr>
        <p:spPr>
          <a:xfrm>
            <a:off x="994833" y="2956123"/>
            <a:ext cx="27513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banks</a:t>
            </a:r>
            <a:endParaRPr lang="en-US" sz="1500" dirty="0"/>
          </a:p>
        </p:txBody>
      </p:sp>
      <p:sp>
        <p:nvSpPr>
          <p:cNvPr id="7" name="Shape 5"/>
          <p:cNvSpPr/>
          <p:nvPr/>
        </p:nvSpPr>
        <p:spPr>
          <a:xfrm>
            <a:off x="3978275" y="2259146"/>
            <a:ext cx="3028950" cy="1091737"/>
          </a:xfrm>
          <a:prstGeom prst="roundRect">
            <a:avLst>
              <a:gd name="adj" fmla="val 5526"/>
            </a:avLst>
          </a:prstGeom>
          <a:solidFill>
            <a:srgbClr val="FFFDFB"/>
          </a:solidFill>
          <a:ln w="6350">
            <a:solidFill>
              <a:srgbClr val="E6D9D6"/>
            </a:solidFill>
            <a:prstDash val="solid"/>
          </a:ln>
        </p:spPr>
        <p:txBody>
          <a:bodyPr/>
          <a:lstStyle/>
          <a:p>
            <a:endParaRPr lang="en-US"/>
          </a:p>
        </p:txBody>
      </p:sp>
      <p:sp>
        <p:nvSpPr>
          <p:cNvPr id="8" name="Text 6"/>
          <p:cNvSpPr/>
          <p:nvPr/>
        </p:nvSpPr>
        <p:spPr>
          <a:xfrm>
            <a:off x="4157133" y="2387203"/>
            <a:ext cx="275137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6192E"/>
                </a:solidFill>
                <a:latin typeface="Source Serif 4" pitchFamily="18" charset="0"/>
                <a:ea typeface="Source Serif 4" pitchFamily="18" charset="-122"/>
                <a:cs typeface="Source Serif 4" pitchFamily="18" charset="-120"/>
              </a:rPr>
              <a:t>5</a:t>
            </a:r>
            <a:endParaRPr lang="en-US" sz="3200" dirty="0"/>
          </a:p>
        </p:txBody>
      </p:sp>
      <p:sp>
        <p:nvSpPr>
          <p:cNvPr id="9" name="Text 7"/>
          <p:cNvSpPr/>
          <p:nvPr/>
        </p:nvSpPr>
        <p:spPr>
          <a:xfrm>
            <a:off x="4157133" y="2956123"/>
            <a:ext cx="27513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bank types</a:t>
            </a:r>
            <a:endParaRPr lang="en-US" sz="1500" dirty="0"/>
          </a:p>
        </p:txBody>
      </p:sp>
      <p:sp>
        <p:nvSpPr>
          <p:cNvPr id="10" name="Shape 8"/>
          <p:cNvSpPr/>
          <p:nvPr/>
        </p:nvSpPr>
        <p:spPr>
          <a:xfrm>
            <a:off x="815975" y="3484234"/>
            <a:ext cx="3028950" cy="1091737"/>
          </a:xfrm>
          <a:prstGeom prst="roundRect">
            <a:avLst>
              <a:gd name="adj" fmla="val 5526"/>
            </a:avLst>
          </a:prstGeom>
          <a:solidFill>
            <a:srgbClr val="FFFDFB"/>
          </a:solidFill>
          <a:ln w="6350">
            <a:solidFill>
              <a:srgbClr val="E6D9D6"/>
            </a:solidFill>
            <a:prstDash val="solid"/>
          </a:ln>
        </p:spPr>
        <p:txBody>
          <a:bodyPr/>
          <a:lstStyle/>
          <a:p>
            <a:endParaRPr lang="en-US"/>
          </a:p>
        </p:txBody>
      </p:sp>
      <p:sp>
        <p:nvSpPr>
          <p:cNvPr id="11" name="Text 9"/>
          <p:cNvSpPr/>
          <p:nvPr/>
        </p:nvSpPr>
        <p:spPr>
          <a:xfrm>
            <a:off x="994833" y="3612291"/>
            <a:ext cx="275137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6192E"/>
                </a:solidFill>
                <a:latin typeface="Source Serif 4" pitchFamily="18" charset="0"/>
                <a:ea typeface="Source Serif 4" pitchFamily="18" charset="-122"/>
                <a:cs typeface="Source Serif 4" pitchFamily="18" charset="-120"/>
              </a:rPr>
              <a:t>9</a:t>
            </a:r>
            <a:endParaRPr lang="en-US" sz="3200" dirty="0"/>
          </a:p>
        </p:txBody>
      </p:sp>
      <p:sp>
        <p:nvSpPr>
          <p:cNvPr id="12" name="Text 10"/>
          <p:cNvSpPr/>
          <p:nvPr/>
        </p:nvSpPr>
        <p:spPr>
          <a:xfrm>
            <a:off x="994833" y="4181211"/>
            <a:ext cx="27513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service groups</a:t>
            </a:r>
            <a:endParaRPr lang="en-US" sz="1500" dirty="0"/>
          </a:p>
        </p:txBody>
      </p:sp>
      <p:sp>
        <p:nvSpPr>
          <p:cNvPr id="13" name="Shape 11"/>
          <p:cNvSpPr/>
          <p:nvPr/>
        </p:nvSpPr>
        <p:spPr>
          <a:xfrm>
            <a:off x="3978275" y="3484234"/>
            <a:ext cx="3028950" cy="1091737"/>
          </a:xfrm>
          <a:prstGeom prst="roundRect">
            <a:avLst>
              <a:gd name="adj" fmla="val 5526"/>
            </a:avLst>
          </a:prstGeom>
          <a:solidFill>
            <a:srgbClr val="FFFDFB"/>
          </a:solidFill>
          <a:ln w="6350">
            <a:solidFill>
              <a:srgbClr val="E6D9D6"/>
            </a:solidFill>
            <a:prstDash val="solid"/>
          </a:ln>
        </p:spPr>
        <p:txBody>
          <a:bodyPr/>
          <a:lstStyle/>
          <a:p>
            <a:endParaRPr lang="en-US"/>
          </a:p>
        </p:txBody>
      </p:sp>
      <p:sp>
        <p:nvSpPr>
          <p:cNvPr id="14" name="Text 12"/>
          <p:cNvSpPr/>
          <p:nvPr/>
        </p:nvSpPr>
        <p:spPr>
          <a:xfrm>
            <a:off x="4157133" y="3612291"/>
            <a:ext cx="275137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6192E"/>
                </a:solidFill>
                <a:latin typeface="Source Serif 4" pitchFamily="18" charset="0"/>
                <a:ea typeface="Source Serif 4" pitchFamily="18" charset="-122"/>
                <a:cs typeface="Source Serif 4" pitchFamily="18" charset="-120"/>
              </a:rPr>
              <a:t>202</a:t>
            </a:r>
            <a:endParaRPr lang="en-US" sz="3200" dirty="0"/>
          </a:p>
        </p:txBody>
      </p:sp>
      <p:sp>
        <p:nvSpPr>
          <p:cNvPr id="15" name="Text 13"/>
          <p:cNvSpPr/>
          <p:nvPr/>
        </p:nvSpPr>
        <p:spPr>
          <a:xfrm>
            <a:off x="4157133" y="4181211"/>
            <a:ext cx="275137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bank–service links</a:t>
            </a:r>
            <a:endParaRPr lang="en-US" sz="1500" dirty="0"/>
          </a:p>
        </p:txBody>
      </p:sp>
      <p:sp>
        <p:nvSpPr>
          <p:cNvPr id="16" name="Text 14"/>
          <p:cNvSpPr/>
          <p:nvPr/>
        </p:nvSpPr>
        <p:spPr>
          <a:xfrm>
            <a:off x="812800" y="4731544"/>
            <a:ext cx="6383528" cy="9092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Source: Wikipedia's list of banks in Vietnam, checked against official websites. Headquarters follow the administrative boundaries in force from 1 July 2025.</a:t>
            </a:r>
            <a:endParaRPr lang="en-US" sz="1600" dirty="0"/>
          </a:p>
        </p:txBody>
      </p:sp>
      <p:sp>
        <p:nvSpPr>
          <p:cNvPr id="17" name="Shape 15"/>
          <p:cNvSpPr/>
          <p:nvPr/>
        </p:nvSpPr>
        <p:spPr>
          <a:xfrm>
            <a:off x="7318375" y="2080419"/>
            <a:ext cx="4057650" cy="3710517"/>
          </a:xfrm>
          <a:prstGeom prst="roundRect">
            <a:avLst>
              <a:gd name="adj" fmla="val 1626"/>
            </a:avLst>
          </a:prstGeom>
          <a:solidFill>
            <a:srgbClr val="FFFFFF"/>
          </a:solidFill>
          <a:ln w="6350">
            <a:solidFill>
              <a:srgbClr val="E6D9D6"/>
            </a:solidFill>
            <a:prstDash val="solid"/>
          </a:ln>
        </p:spPr>
        <p:txBody>
          <a:bodyPr/>
          <a:lstStyle/>
          <a:p>
            <a:endParaRPr lang="en-US"/>
          </a:p>
        </p:txBody>
      </p:sp>
      <p:pic>
        <p:nvPicPr>
          <p:cNvPr id="18" name="Image 0" descr="Overview graph of 30 banks linked to bank types and headquarters"/>
          <p:cNvPicPr>
            <a:picLocks noChangeAspect="1"/>
          </p:cNvPicPr>
          <p:nvPr/>
        </p:nvPicPr>
        <p:blipFill>
          <a:blip r:embed="rId3"/>
          <a:srcRect l="-7857" r="-7857"/>
          <a:stretch/>
        </p:blipFill>
        <p:spPr>
          <a:xfrm>
            <a:off x="7404100" y="2157679"/>
            <a:ext cx="3886200" cy="355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2 · ONTOLOGY</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Four core classes, five defined classes</a:t>
            </a:r>
            <a:endParaRPr lang="en-US" sz="3200" dirty="0"/>
          </a:p>
        </p:txBody>
      </p:sp>
      <p:sp>
        <p:nvSpPr>
          <p:cNvPr id="4" name="Shape 2"/>
          <p:cNvSpPr/>
          <p:nvPr/>
        </p:nvSpPr>
        <p:spPr>
          <a:xfrm>
            <a:off x="815975" y="2042319"/>
            <a:ext cx="6089650" cy="3786717"/>
          </a:xfrm>
          <a:prstGeom prst="roundRect">
            <a:avLst>
              <a:gd name="adj" fmla="val 1593"/>
            </a:avLst>
          </a:prstGeom>
          <a:solidFill>
            <a:srgbClr val="FFFFFF"/>
          </a:solidFill>
          <a:ln w="6350">
            <a:solidFill>
              <a:srgbClr val="E6D9D6"/>
            </a:solidFill>
            <a:prstDash val="solid"/>
          </a:ln>
        </p:spPr>
        <p:txBody>
          <a:bodyPr/>
          <a:lstStyle/>
          <a:p>
            <a:endParaRPr lang="en-US"/>
          </a:p>
        </p:txBody>
      </p:sp>
      <p:pic>
        <p:nvPicPr>
          <p:cNvPr id="5" name="Image 0" descr="Ontology schema graph: Bank, BankType, Location, Service, defined classes and schema:BankOrCreditUnion"/>
          <p:cNvPicPr>
            <a:picLocks noChangeAspect="1"/>
          </p:cNvPicPr>
          <p:nvPr/>
        </p:nvPicPr>
        <p:blipFill>
          <a:blip r:embed="rId3"/>
          <a:srcRect l="-7299" r="-7299"/>
          <a:stretch/>
        </p:blipFill>
        <p:spPr>
          <a:xfrm>
            <a:off x="901700" y="2119579"/>
            <a:ext cx="5918200" cy="3632200"/>
          </a:xfrm>
          <a:prstGeom prst="rect">
            <a:avLst/>
          </a:prstGeom>
        </p:spPr>
      </p:pic>
      <p:sp>
        <p:nvSpPr>
          <p:cNvPr id="6" name="Shape 3"/>
          <p:cNvSpPr/>
          <p:nvPr/>
        </p:nvSpPr>
        <p:spPr>
          <a:xfrm>
            <a:off x="7216775" y="1957918"/>
            <a:ext cx="4159250" cy="1419225"/>
          </a:xfrm>
          <a:prstGeom prst="roundRect">
            <a:avLst>
              <a:gd name="adj" fmla="val 4251"/>
            </a:avLst>
          </a:prstGeom>
          <a:solidFill>
            <a:srgbClr val="FFFDFB"/>
          </a:solidFill>
          <a:ln w="6350">
            <a:solidFill>
              <a:srgbClr val="E6D9D6"/>
            </a:solidFill>
            <a:prstDash val="solid"/>
          </a:ln>
        </p:spPr>
        <p:txBody>
          <a:bodyPr/>
          <a:lstStyle/>
          <a:p>
            <a:endParaRPr lang="en-US"/>
          </a:p>
        </p:txBody>
      </p:sp>
      <p:sp>
        <p:nvSpPr>
          <p:cNvPr id="7" name="Text 4"/>
          <p:cNvSpPr/>
          <p:nvPr/>
        </p:nvSpPr>
        <p:spPr>
          <a:xfrm>
            <a:off x="7421034" y="2111375"/>
            <a:ext cx="3863255"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1A1C"/>
                </a:solidFill>
                <a:latin typeface="IBM Plex Sans" pitchFamily="34" charset="0"/>
                <a:ea typeface="IBM Plex Sans" pitchFamily="34" charset="-122"/>
                <a:cs typeface="IBM Plex Sans" pitchFamily="34" charset="-120"/>
              </a:rPr>
              <a:t>Core classes</a:t>
            </a:r>
            <a:endParaRPr lang="en-US" sz="1700" dirty="0"/>
          </a:p>
        </p:txBody>
      </p:sp>
      <p:sp>
        <p:nvSpPr>
          <p:cNvPr id="8" name="Text 5"/>
          <p:cNvSpPr/>
          <p:nvPr/>
        </p:nvSpPr>
        <p:spPr>
          <a:xfrm>
            <a:off x="7421034" y="2370404"/>
            <a:ext cx="3863255"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Bank, BankType, Location, Service. Types, locations and services are individuals.</a:t>
            </a:r>
            <a:endParaRPr lang="en-US" sz="1600" dirty="0"/>
          </a:p>
        </p:txBody>
      </p:sp>
      <p:sp>
        <p:nvSpPr>
          <p:cNvPr id="9" name="Shape 6"/>
          <p:cNvSpPr/>
          <p:nvPr/>
        </p:nvSpPr>
        <p:spPr>
          <a:xfrm>
            <a:off x="7216775" y="3510493"/>
            <a:ext cx="4159250" cy="1134798"/>
          </a:xfrm>
          <a:prstGeom prst="roundRect">
            <a:avLst>
              <a:gd name="adj" fmla="val 5316"/>
            </a:avLst>
          </a:prstGeom>
          <a:solidFill>
            <a:srgbClr val="FFFDFB"/>
          </a:solidFill>
          <a:ln w="6350">
            <a:solidFill>
              <a:srgbClr val="E6D9D6"/>
            </a:solidFill>
            <a:prstDash val="solid"/>
          </a:ln>
        </p:spPr>
        <p:txBody>
          <a:bodyPr/>
          <a:lstStyle/>
          <a:p>
            <a:endParaRPr lang="en-US"/>
          </a:p>
        </p:txBody>
      </p:sp>
      <p:sp>
        <p:nvSpPr>
          <p:cNvPr id="10" name="Text 7"/>
          <p:cNvSpPr/>
          <p:nvPr/>
        </p:nvSpPr>
        <p:spPr>
          <a:xfrm>
            <a:off x="7421034" y="3663950"/>
            <a:ext cx="3863255"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1A1C"/>
                </a:solidFill>
                <a:latin typeface="IBM Plex Sans" pitchFamily="34" charset="0"/>
                <a:ea typeface="IBM Plex Sans" pitchFamily="34" charset="-122"/>
                <a:cs typeface="IBM Plex Sans" pitchFamily="34" charset="-120"/>
              </a:rPr>
              <a:t>Properties</a:t>
            </a:r>
            <a:endParaRPr lang="en-US" sz="1700" dirty="0"/>
          </a:p>
        </p:txBody>
      </p:sp>
      <p:sp>
        <p:nvSpPr>
          <p:cNvPr id="11" name="Text 8"/>
          <p:cNvSpPr/>
          <p:nvPr/>
        </p:nvSpPr>
        <p:spPr>
          <a:xfrm>
            <a:off x="7421034" y="3922979"/>
            <a:ext cx="3863255"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6 object properties (2 inverse pairs) and 7 datatype properties typed with xsd.</a:t>
            </a:r>
            <a:endParaRPr lang="en-US" sz="1600" dirty="0"/>
          </a:p>
        </p:txBody>
      </p:sp>
      <p:sp>
        <p:nvSpPr>
          <p:cNvPr id="12" name="Shape 9"/>
          <p:cNvSpPr/>
          <p:nvPr/>
        </p:nvSpPr>
        <p:spPr>
          <a:xfrm>
            <a:off x="7216775" y="4778642"/>
            <a:ext cx="4159250" cy="1134798"/>
          </a:xfrm>
          <a:prstGeom prst="roundRect">
            <a:avLst>
              <a:gd name="adj" fmla="val 5316"/>
            </a:avLst>
          </a:prstGeom>
          <a:solidFill>
            <a:srgbClr val="FFFDFB"/>
          </a:solidFill>
          <a:ln w="6350">
            <a:solidFill>
              <a:srgbClr val="E6D9D6"/>
            </a:solidFill>
            <a:prstDash val="solid"/>
          </a:ln>
        </p:spPr>
        <p:txBody>
          <a:bodyPr/>
          <a:lstStyle/>
          <a:p>
            <a:endParaRPr lang="en-US"/>
          </a:p>
        </p:txBody>
      </p:sp>
      <p:sp>
        <p:nvSpPr>
          <p:cNvPr id="13" name="Text 10"/>
          <p:cNvSpPr/>
          <p:nvPr/>
        </p:nvSpPr>
        <p:spPr>
          <a:xfrm>
            <a:off x="7421034" y="4932099"/>
            <a:ext cx="3863255"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1A1C"/>
                </a:solidFill>
                <a:latin typeface="IBM Plex Sans" pitchFamily="34" charset="0"/>
                <a:ea typeface="IBM Plex Sans" pitchFamily="34" charset="-122"/>
                <a:cs typeface="IBM Plex Sans" pitchFamily="34" charset="-120"/>
              </a:rPr>
              <a:t>Vocabulary reuse</a:t>
            </a:r>
            <a:endParaRPr lang="en-US" sz="1700" dirty="0"/>
          </a:p>
        </p:txBody>
      </p:sp>
      <p:sp>
        <p:nvSpPr>
          <p:cNvPr id="14" name="Text 11"/>
          <p:cNvSpPr/>
          <p:nvPr/>
        </p:nvSpPr>
        <p:spPr>
          <a:xfrm>
            <a:off x="7421034" y="5191125"/>
            <a:ext cx="3863255"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Bank is a subclass of schema:BankOrCreditUnion.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2 · OWL 2 AXIOMS</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Competency questions become inferred classes</a:t>
            </a:r>
            <a:endParaRPr lang="en-US" sz="3200" dirty="0"/>
          </a:p>
        </p:txBody>
      </p:sp>
      <p:sp>
        <p:nvSpPr>
          <p:cNvPr id="4" name="Text 2"/>
          <p:cNvSpPr/>
          <p:nvPr/>
        </p:nvSpPr>
        <p:spPr>
          <a:xfrm>
            <a:off x="812800" y="2082800"/>
            <a:ext cx="533704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Restrictions on Bank</a:t>
            </a:r>
            <a:endParaRPr lang="en-US" sz="1500" dirty="0"/>
          </a:p>
        </p:txBody>
      </p:sp>
      <p:sp>
        <p:nvSpPr>
          <p:cNvPr id="5" name="Text 3"/>
          <p:cNvSpPr/>
          <p:nvPr/>
        </p:nvSpPr>
        <p:spPr>
          <a:xfrm>
            <a:off x="812800" y="2425700"/>
            <a:ext cx="5181600" cy="2590800"/>
          </a:xfrm>
          <a:prstGeom prst="roundRect">
            <a:avLst>
              <a:gd name="adj" fmla="val 2451"/>
            </a:avLst>
          </a:prstGeom>
          <a:solidFill>
            <a:srgbClr val="2B1F20"/>
          </a:solidFill>
          <a:ln/>
        </p:spPr>
        <p:txBody>
          <a:bodyPr wrap="square" lIns="159201" tIns="133801" rIns="14421" bIns="108401" rtlCol="0" anchor="t">
            <a:normAutofit fontScale="92500"/>
          </a:bodyPr>
          <a:lstStyle/>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Bank SubClassOf</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hasBankType exactly 1 BankType,</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hasHeadquarters exactly 1 Location,</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bankId exactly 1 xsd:string,</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providesService some Service,</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schema:BankOrCreditUnion</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Bank DisjointWith</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BankType, Location, Service</a:t>
            </a:r>
            <a:endParaRPr lang="en-US" sz="1500" dirty="0"/>
          </a:p>
        </p:txBody>
      </p:sp>
      <p:sp>
        <p:nvSpPr>
          <p:cNvPr id="6" name="Text 4"/>
          <p:cNvSpPr/>
          <p:nvPr/>
        </p:nvSpPr>
        <p:spPr>
          <a:xfrm>
            <a:off x="6197600" y="2225675"/>
            <a:ext cx="533704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6192E"/>
                </a:solidFill>
                <a:latin typeface="IBM Plex Sans" pitchFamily="34" charset="0"/>
                <a:ea typeface="IBM Plex Sans" pitchFamily="34" charset="-122"/>
                <a:cs typeface="IBM Plex Sans" pitchFamily="34" charset="-120"/>
              </a:rPr>
              <a:t>Defined classes (owl:equivalentClass)</a:t>
            </a:r>
            <a:endParaRPr lang="en-US" sz="1500" dirty="0"/>
          </a:p>
        </p:txBody>
      </p:sp>
      <p:sp>
        <p:nvSpPr>
          <p:cNvPr id="7" name="Text 5"/>
          <p:cNvSpPr/>
          <p:nvPr/>
        </p:nvSpPr>
        <p:spPr>
          <a:xfrm>
            <a:off x="6197600" y="2568575"/>
            <a:ext cx="5181600" cy="2305050"/>
          </a:xfrm>
          <a:prstGeom prst="roundRect">
            <a:avLst>
              <a:gd name="adj" fmla="val 2755"/>
            </a:avLst>
          </a:prstGeom>
          <a:solidFill>
            <a:srgbClr val="2B1F20"/>
          </a:solidFill>
          <a:ln/>
        </p:spPr>
        <p:txBody>
          <a:bodyPr wrap="square" lIns="159201" tIns="133801" rIns="14421" bIns="108401" rtlCol="0" anchor="t">
            <a:normAutofit/>
          </a:bodyPr>
          <a:lstStyle/>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StateOwnedBank ≡ Bank and</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hasBankType value state-commercial</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DigitalBank ≡ Bank and</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providesService value digital-banking</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EstablishedBefore1991Bank ≡ Bank and</a:t>
            </a:r>
            <a:endParaRPr lang="en-US" sz="1500" dirty="0"/>
          </a:p>
          <a:p>
            <a:pPr marL="0" indent="0" algn="l">
              <a:lnSpc>
                <a:spcPts val="2250"/>
              </a:lnSpc>
              <a:buNone/>
            </a:pPr>
            <a:r>
              <a:rPr lang="en-US" sz="1500" dirty="0">
                <a:solidFill>
                  <a:srgbClr val="F5ECE8"/>
                </a:solidFill>
                <a:latin typeface="JetBrains Mono" pitchFamily="49" charset="0"/>
                <a:ea typeface="JetBrains Mono" pitchFamily="49" charset="-122"/>
                <a:cs typeface="JetBrains Mono" pitchFamily="49" charset="-120"/>
              </a:rPr>
              <a:t>  foundedYear some xsd:integer[&lt;= 1990]</a:t>
            </a:r>
            <a:endParaRPr lang="en-US" sz="1500" dirty="0"/>
          </a:p>
          <a:p>
            <a:pPr marL="0" indent="0" algn="l">
              <a:lnSpc>
                <a:spcPts val="2250"/>
              </a:lnSpc>
              <a:buNone/>
            </a:pPr>
            <a:r>
              <a:rPr lang="en-US" sz="1500" dirty="0">
                <a:solidFill>
                  <a:srgbClr val="E3B1B8"/>
                </a:solidFill>
                <a:latin typeface="JetBrains Mono" pitchFamily="49" charset="0"/>
                <a:ea typeface="JetBrains Mono" pitchFamily="49" charset="-122"/>
                <a:cs typeface="JetBrains Mono" pitchFamily="49" charset="-120"/>
              </a:rPr>
              <a:t>+ JointStockBank, ForeignBank</a:t>
            </a:r>
            <a:endParaRPr lang="en-US" sz="1500" dirty="0"/>
          </a:p>
        </p:txBody>
      </p:sp>
      <p:sp>
        <p:nvSpPr>
          <p:cNvPr id="8" name="Text 6"/>
          <p:cNvSpPr/>
          <p:nvPr/>
        </p:nvSpPr>
        <p:spPr>
          <a:xfrm>
            <a:off x="812800" y="5577948"/>
            <a:ext cx="1088339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The four hasValue classes fall within OWL 2 RL. EstablishedBefore1991Bank uses a datatype restriction, so it needs HermiT (OWL 2 DL).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2 · PROTÉGÉ</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The reasoner classifies classes and infers inverses</a:t>
            </a:r>
            <a:endParaRPr lang="en-US" sz="3200" dirty="0"/>
          </a:p>
        </p:txBody>
      </p:sp>
      <p:sp>
        <p:nvSpPr>
          <p:cNvPr id="4" name="Shape 2"/>
          <p:cNvSpPr/>
          <p:nvPr/>
        </p:nvSpPr>
        <p:spPr>
          <a:xfrm>
            <a:off x="812800" y="2005279"/>
            <a:ext cx="7137400" cy="3835400"/>
          </a:xfrm>
          <a:prstGeom prst="roundRect">
            <a:avLst>
              <a:gd name="adj" fmla="val 1656"/>
            </a:avLst>
          </a:prstGeom>
          <a:solidFill>
            <a:srgbClr val="EDE6E3"/>
          </a:solidFill>
          <a:ln/>
        </p:spPr>
        <p:txBody>
          <a:bodyPr/>
          <a:lstStyle/>
          <a:p>
            <a:endParaRPr lang="en-US"/>
          </a:p>
        </p:txBody>
      </p:sp>
      <p:pic>
        <p:nvPicPr>
          <p:cNvPr id="5" name="Image 0" descr="Protégé: inferred class hierarchy and isProvidedBy assertions"/>
          <p:cNvPicPr>
            <a:picLocks noChangeAspect="1"/>
          </p:cNvPicPr>
          <p:nvPr/>
        </p:nvPicPr>
        <p:blipFill>
          <a:blip r:embed="rId3"/>
          <a:srcRect l="-5989" r="-5989"/>
          <a:stretch/>
        </p:blipFill>
        <p:spPr>
          <a:xfrm>
            <a:off x="889000" y="2081479"/>
            <a:ext cx="6985000" cy="3683000"/>
          </a:xfrm>
          <a:prstGeom prst="rect">
            <a:avLst/>
          </a:prstGeom>
        </p:spPr>
      </p:pic>
      <p:sp>
        <p:nvSpPr>
          <p:cNvPr id="6" name="Text 3"/>
          <p:cNvSpPr/>
          <p:nvPr/>
        </p:nvSpPr>
        <p:spPr>
          <a:xfrm>
            <a:off x="8204200" y="2975639"/>
            <a:ext cx="3270250" cy="614627"/>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3D3031"/>
                </a:solidFill>
                <a:latin typeface="IBM Plex Sans" pitchFamily="34" charset="0"/>
                <a:ea typeface="IBM Plex Sans" pitchFamily="34" charset="-122"/>
                <a:cs typeface="IBM Plex Sans" pitchFamily="34" charset="-120"/>
              </a:rPr>
              <a:t>Left:</a:t>
            </a:r>
            <a:r>
              <a:rPr lang="en-US" sz="1600" dirty="0">
                <a:solidFill>
                  <a:srgbClr val="3D3031"/>
                </a:solidFill>
                <a:latin typeface="IBM Plex Sans" pitchFamily="34" charset="0"/>
                <a:ea typeface="IBM Plex Sans" pitchFamily="34" charset="-122"/>
                <a:cs typeface="IBM Plex Sans" pitchFamily="34" charset="-120"/>
              </a:rPr>
              <a:t> the five defined classes sit under :Bank.</a:t>
            </a:r>
            <a:endParaRPr lang="en-US" sz="1600" dirty="0"/>
          </a:p>
        </p:txBody>
      </p:sp>
      <p:sp>
        <p:nvSpPr>
          <p:cNvPr id="7" name="Text 4"/>
          <p:cNvSpPr/>
          <p:nvPr/>
        </p:nvSpPr>
        <p:spPr>
          <a:xfrm>
            <a:off x="8204200" y="3691865"/>
            <a:ext cx="3270250" cy="1203854"/>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3D3031"/>
                </a:solidFill>
                <a:latin typeface="IBM Plex Sans" pitchFamily="34" charset="0"/>
                <a:ea typeface="IBM Plex Sans" pitchFamily="34" charset="-122"/>
                <a:cs typeface="IBM Plex Sans" pitchFamily="34" charset="-120"/>
              </a:rPr>
              <a:t>Right:</a:t>
            </a:r>
            <a:r>
              <a:rPr lang="en-US" sz="1600" dirty="0">
                <a:solidFill>
                  <a:srgbClr val="3D3031"/>
                </a:solidFill>
                <a:latin typeface="IBM Plex Sans" pitchFamily="34" charset="0"/>
                <a:ea typeface="IBM Plex Sans" pitchFamily="34" charset="-122"/>
                <a:cs typeface="IBM Plex Sans" pitchFamily="34" charset="-120"/>
              </a:rPr>
              <a:t> the Digital banking service carries isProvidedBy assertions inferred from owl:inverseOf, not entered by hand.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2 · DL QUERIES WITH HERMIT</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HermiT answers datatype restrictions</a:t>
            </a:r>
            <a:endParaRPr lang="en-US" sz="3200" dirty="0"/>
          </a:p>
        </p:txBody>
      </p:sp>
      <p:sp>
        <p:nvSpPr>
          <p:cNvPr id="4" name="Shape 2"/>
          <p:cNvSpPr/>
          <p:nvPr/>
        </p:nvSpPr>
        <p:spPr>
          <a:xfrm>
            <a:off x="812800" y="2164029"/>
            <a:ext cx="5181600" cy="2730500"/>
          </a:xfrm>
          <a:prstGeom prst="roundRect">
            <a:avLst>
              <a:gd name="adj" fmla="val 2326"/>
            </a:avLst>
          </a:prstGeom>
          <a:solidFill>
            <a:srgbClr val="EDE6E3"/>
          </a:solidFill>
          <a:ln/>
        </p:spPr>
        <p:txBody>
          <a:bodyPr/>
          <a:lstStyle/>
          <a:p>
            <a:endParaRPr lang="en-US"/>
          </a:p>
        </p:txBody>
      </p:sp>
      <p:pic>
        <p:nvPicPr>
          <p:cNvPr id="5" name="Image 0" descr="DL query: Bank and hasBankType value state-commercial"/>
          <p:cNvPicPr>
            <a:picLocks noChangeAspect="1"/>
          </p:cNvPicPr>
          <p:nvPr/>
        </p:nvPicPr>
        <p:blipFill>
          <a:blip r:embed="rId3"/>
          <a:srcRect l="-8061" r="-8061"/>
          <a:stretch/>
        </p:blipFill>
        <p:spPr>
          <a:xfrm>
            <a:off x="876300" y="2227529"/>
            <a:ext cx="5054600" cy="2603500"/>
          </a:xfrm>
          <a:prstGeom prst="rect">
            <a:avLst/>
          </a:prstGeom>
        </p:spPr>
      </p:pic>
      <p:sp>
        <p:nvSpPr>
          <p:cNvPr id="6" name="Text 3"/>
          <p:cNvSpPr/>
          <p:nvPr/>
        </p:nvSpPr>
        <p:spPr>
          <a:xfrm>
            <a:off x="812800" y="4970729"/>
            <a:ext cx="53370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031"/>
                </a:solidFill>
                <a:latin typeface="IBM Plex Sans" pitchFamily="34" charset="0"/>
                <a:ea typeface="IBM Plex Sans" pitchFamily="34" charset="-122"/>
                <a:cs typeface="IBM Plex Sans" pitchFamily="34" charset="-120"/>
              </a:rPr>
              <a:t>Bank and hasBankType value state-commercial</a:t>
            </a:r>
            <a:endParaRPr lang="en-US" sz="1500" dirty="0"/>
          </a:p>
        </p:txBody>
      </p:sp>
      <p:sp>
        <p:nvSpPr>
          <p:cNvPr id="7" name="Shape 4"/>
          <p:cNvSpPr/>
          <p:nvPr/>
        </p:nvSpPr>
        <p:spPr>
          <a:xfrm>
            <a:off x="6197600" y="2164029"/>
            <a:ext cx="5181600" cy="2730500"/>
          </a:xfrm>
          <a:prstGeom prst="roundRect">
            <a:avLst>
              <a:gd name="adj" fmla="val 2326"/>
            </a:avLst>
          </a:prstGeom>
          <a:solidFill>
            <a:srgbClr val="EDE6E3"/>
          </a:solidFill>
          <a:ln/>
        </p:spPr>
        <p:txBody>
          <a:bodyPr/>
          <a:lstStyle/>
          <a:p>
            <a:endParaRPr lang="en-US"/>
          </a:p>
        </p:txBody>
      </p:sp>
      <p:pic>
        <p:nvPicPr>
          <p:cNvPr id="8" name="Image 1" descr="DL query: Bank and foundedYear some xsd:integer[&lt;= 1990]"/>
          <p:cNvPicPr>
            <a:picLocks noChangeAspect="1"/>
          </p:cNvPicPr>
          <p:nvPr/>
        </p:nvPicPr>
        <p:blipFill>
          <a:blip r:embed="rId4"/>
          <a:srcRect l="-7444" r="-7444"/>
          <a:stretch/>
        </p:blipFill>
        <p:spPr>
          <a:xfrm>
            <a:off x="6261100" y="2227529"/>
            <a:ext cx="5054600" cy="2603500"/>
          </a:xfrm>
          <a:prstGeom prst="rect">
            <a:avLst/>
          </a:prstGeom>
        </p:spPr>
      </p:pic>
      <p:sp>
        <p:nvSpPr>
          <p:cNvPr id="9" name="Text 5"/>
          <p:cNvSpPr/>
          <p:nvPr/>
        </p:nvSpPr>
        <p:spPr>
          <a:xfrm>
            <a:off x="6197600" y="4970729"/>
            <a:ext cx="59944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031"/>
                </a:solidFill>
                <a:latin typeface="IBM Plex Sans" pitchFamily="34" charset="0"/>
                <a:ea typeface="IBM Plex Sans" pitchFamily="34" charset="-122"/>
                <a:cs typeface="IBM Plex Sans" pitchFamily="34" charset="-120"/>
              </a:rPr>
              <a:t>Bank and foundedYear some xsd:integer[&lt;= 1990]: 6 banks</a:t>
            </a:r>
            <a:endParaRPr lang="en-US" sz="1500" dirty="0"/>
          </a:p>
        </p:txBody>
      </p:sp>
      <p:sp>
        <p:nvSpPr>
          <p:cNvPr id="10" name="Text 6"/>
          <p:cNvSpPr/>
          <p:nvPr/>
        </p:nvSpPr>
        <p:spPr>
          <a:xfrm>
            <a:off x="812800" y="58801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7A6869"/>
                </a:solidFill>
                <a:latin typeface="IBM Plex Sans" pitchFamily="34" charset="0"/>
                <a:ea typeface="IBM Plex Sans" pitchFamily="34" charset="-122"/>
                <a:cs typeface="IBM Plex Sans" pitchFamily="34" charset="-120"/>
              </a:rPr>
              <a:t>The lists include Wikidata and DBpedia IRIs because they are owl:sameAs the internal banks.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3 · FOUR STARS</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Every bank is an RDF resource</a:t>
            </a:r>
            <a:endParaRPr lang="en-US" sz="3200" dirty="0"/>
          </a:p>
        </p:txBody>
      </p:sp>
      <p:sp>
        <p:nvSpPr>
          <p:cNvPr id="4" name="Text 2"/>
          <p:cNvSpPr/>
          <p:nvPr/>
        </p:nvSpPr>
        <p:spPr>
          <a:xfrm>
            <a:off x="812800" y="2402154"/>
            <a:ext cx="6477000" cy="3067050"/>
          </a:xfrm>
          <a:prstGeom prst="roundRect">
            <a:avLst>
              <a:gd name="adj" fmla="val 2070"/>
            </a:avLst>
          </a:prstGeom>
          <a:solidFill>
            <a:srgbClr val="2B1F20"/>
          </a:solidFill>
          <a:ln/>
        </p:spPr>
        <p:txBody>
          <a:bodyPr wrap="square" lIns="159201" tIns="133801" rIns="0" bIns="108401" rtlCol="0" anchor="t">
            <a:normAutofit/>
          </a:bodyPr>
          <a:lstStyle/>
          <a:p>
            <a:pPr marL="0" indent="0" algn="l">
              <a:lnSpc>
                <a:spcPts val="2175"/>
              </a:lnSpc>
              <a:buNone/>
            </a:pPr>
            <a:r>
              <a:rPr lang="en-US" sz="1500" dirty="0">
                <a:solidFill>
                  <a:srgbClr val="F0A8B2"/>
                </a:solidFill>
                <a:latin typeface="JetBrains Mono" pitchFamily="49" charset="0"/>
                <a:ea typeface="JetBrains Mono" pitchFamily="49" charset="-122"/>
                <a:cs typeface="JetBrains Mono" pitchFamily="49" charset="-120"/>
              </a:rPr>
              <a:t>bank:acb</a:t>
            </a:r>
            <a:r>
              <a:rPr lang="en-US" sz="1500" dirty="0">
                <a:solidFill>
                  <a:srgbClr val="F5ECE8"/>
                </a:solidFill>
                <a:latin typeface="JetBrains Mono" pitchFamily="49" charset="0"/>
                <a:ea typeface="JetBrains Mono" pitchFamily="49" charset="-122"/>
                <a:cs typeface="JetBrains Mono" pitchFamily="49" charset="-120"/>
              </a:rPr>
              <a:t> a :Bank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rdfs:label "Ngân hàng TMCP Á Châu"@vi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:bankId "ACB" ; :foundedYear 1993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:hasBankType bt:joint-stock-commercial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:hasHeadquarters loc:ho-chi-minh-city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:providesService sv:digital-banking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schema:url &lt;https://www.acb.com.vn/&gt;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dcterms:source &lt;…/List_of_banks_in_Vietnam&gt; ;</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a:t>
            </a:r>
            <a:r>
              <a:rPr lang="en-US" sz="1500" dirty="0">
                <a:solidFill>
                  <a:srgbClr val="F0A8B2"/>
                </a:solidFill>
                <a:latin typeface="JetBrains Mono" pitchFamily="49" charset="0"/>
                <a:ea typeface="JetBrains Mono" pitchFamily="49" charset="-122"/>
                <a:cs typeface="JetBrains Mono" pitchFamily="49" charset="-120"/>
              </a:rPr>
              <a:t>owl:sameAs</a:t>
            </a:r>
            <a:r>
              <a:rPr lang="en-US" sz="1500" dirty="0">
                <a:solidFill>
                  <a:srgbClr val="F5ECE8"/>
                </a:solidFill>
                <a:latin typeface="JetBrains Mono" pitchFamily="49" charset="0"/>
                <a:ea typeface="JetBrains Mono" pitchFamily="49" charset="-122"/>
                <a:cs typeface="JetBrains Mono" pitchFamily="49" charset="-120"/>
              </a:rPr>
              <a:t> wd:Q727019,</a:t>
            </a:r>
            <a:endParaRPr lang="en-US" sz="1500" dirty="0"/>
          </a:p>
          <a:p>
            <a:pPr marL="0" indent="0" algn="l">
              <a:lnSpc>
                <a:spcPts val="2175"/>
              </a:lnSpc>
              <a:buNone/>
            </a:pPr>
            <a:r>
              <a:rPr lang="en-US" sz="1500" dirty="0">
                <a:solidFill>
                  <a:srgbClr val="F5ECE8"/>
                </a:solidFill>
                <a:latin typeface="JetBrains Mono" pitchFamily="49" charset="0"/>
                <a:ea typeface="JetBrains Mono" pitchFamily="49" charset="-122"/>
                <a:cs typeface="JetBrains Mono" pitchFamily="49" charset="-120"/>
              </a:rPr>
              <a:t>    dbr:Asia_Commercial_Bank .</a:t>
            </a:r>
            <a:endParaRPr lang="en-US" sz="1500" dirty="0"/>
          </a:p>
        </p:txBody>
      </p:sp>
      <p:sp>
        <p:nvSpPr>
          <p:cNvPr id="5" name="Shape 3"/>
          <p:cNvSpPr/>
          <p:nvPr/>
        </p:nvSpPr>
        <p:spPr>
          <a:xfrm>
            <a:off x="7546975" y="2871725"/>
            <a:ext cx="3829050" cy="1020630"/>
          </a:xfrm>
          <a:prstGeom prst="roundRect">
            <a:avLst>
              <a:gd name="adj" fmla="val 5911"/>
            </a:avLst>
          </a:prstGeom>
          <a:solidFill>
            <a:srgbClr val="FFFDFB"/>
          </a:solidFill>
          <a:ln w="6350">
            <a:solidFill>
              <a:srgbClr val="E6D9D6"/>
            </a:solidFill>
            <a:prstDash val="solid"/>
          </a:ln>
        </p:spPr>
        <p:txBody>
          <a:bodyPr/>
          <a:lstStyle/>
          <a:p>
            <a:endParaRPr lang="en-US"/>
          </a:p>
        </p:txBody>
      </p:sp>
      <p:sp>
        <p:nvSpPr>
          <p:cNvPr id="6" name="Text 4"/>
          <p:cNvSpPr/>
          <p:nvPr/>
        </p:nvSpPr>
        <p:spPr>
          <a:xfrm>
            <a:off x="7725834" y="2999780"/>
            <a:ext cx="357547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192E"/>
                </a:solidFill>
                <a:latin typeface="Source Serif 4" pitchFamily="18" charset="0"/>
                <a:ea typeface="Source Serif 4" pitchFamily="18" charset="-122"/>
                <a:cs typeface="Source Serif 4" pitchFamily="18" charset="-120"/>
              </a:rPr>
              <a:t>1,067</a:t>
            </a:r>
            <a:endParaRPr lang="en-US" sz="2800" dirty="0"/>
          </a:p>
        </p:txBody>
      </p:sp>
      <p:sp>
        <p:nvSpPr>
          <p:cNvPr id="7" name="Text 5"/>
          <p:cNvSpPr/>
          <p:nvPr/>
        </p:nvSpPr>
        <p:spPr>
          <a:xfrm>
            <a:off x="7725834" y="3497597"/>
            <a:ext cx="357547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RDF triples (Turtle)</a:t>
            </a:r>
            <a:endParaRPr lang="en-US" sz="1500" dirty="0"/>
          </a:p>
        </p:txBody>
      </p:sp>
      <p:sp>
        <p:nvSpPr>
          <p:cNvPr id="8" name="Text 6"/>
          <p:cNvSpPr/>
          <p:nvPr/>
        </p:nvSpPr>
        <p:spPr>
          <a:xfrm>
            <a:off x="7543800" y="4022527"/>
            <a:ext cx="395046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Stable URIs: bank/{id}, bank-type/{id}, location/{id}, service/{id}.</a:t>
            </a:r>
            <a:endParaRPr lang="en-US" sz="1600" dirty="0"/>
          </a:p>
        </p:txBody>
      </p:sp>
      <p:sp>
        <p:nvSpPr>
          <p:cNvPr id="9" name="Text 7"/>
          <p:cNvSpPr/>
          <p:nvPr/>
        </p:nvSpPr>
        <p:spPr>
          <a:xfrm>
            <a:off x="7543800" y="4718385"/>
            <a:ext cx="395046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IDs survive renaming: bank/lpbank.</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3 · KNOWLEDGE GRAPH</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ACB and Vietcombank in the graph</a:t>
            </a:r>
            <a:endParaRPr lang="en-US" sz="3200" dirty="0"/>
          </a:p>
        </p:txBody>
      </p:sp>
      <p:sp>
        <p:nvSpPr>
          <p:cNvPr id="4" name="Shape 2"/>
          <p:cNvSpPr/>
          <p:nvPr/>
        </p:nvSpPr>
        <p:spPr>
          <a:xfrm>
            <a:off x="815975" y="2042319"/>
            <a:ext cx="4438650" cy="3786717"/>
          </a:xfrm>
          <a:prstGeom prst="roundRect">
            <a:avLst>
              <a:gd name="adj" fmla="val 1593"/>
            </a:avLst>
          </a:prstGeom>
          <a:solidFill>
            <a:srgbClr val="FFFFFF"/>
          </a:solidFill>
          <a:ln w="6350">
            <a:solidFill>
              <a:srgbClr val="E6D9D6"/>
            </a:solidFill>
            <a:prstDash val="solid"/>
          </a:ln>
        </p:spPr>
        <p:txBody>
          <a:bodyPr/>
          <a:lstStyle/>
          <a:p>
            <a:endParaRPr lang="en-US"/>
          </a:p>
        </p:txBody>
      </p:sp>
      <p:pic>
        <p:nvPicPr>
          <p:cNvPr id="5" name="Image 0" descr="Subgraph of ACB and Vietcombank with owl:sameAs links to Wikidata and DBpedia"/>
          <p:cNvPicPr>
            <a:picLocks noChangeAspect="1"/>
          </p:cNvPicPr>
          <p:nvPr/>
        </p:nvPicPr>
        <p:blipFill>
          <a:blip r:embed="rId3"/>
          <a:srcRect l="-25962" r="-25962"/>
          <a:stretch/>
        </p:blipFill>
        <p:spPr>
          <a:xfrm>
            <a:off x="901700" y="2119579"/>
            <a:ext cx="4267200" cy="3632200"/>
          </a:xfrm>
          <a:prstGeom prst="rect">
            <a:avLst/>
          </a:prstGeom>
        </p:spPr>
      </p:pic>
      <p:sp>
        <p:nvSpPr>
          <p:cNvPr id="6" name="Text 3"/>
          <p:cNvSpPr/>
          <p:nvPr/>
        </p:nvSpPr>
        <p:spPr>
          <a:xfrm>
            <a:off x="5562600" y="3059447"/>
            <a:ext cx="5991098" cy="614627"/>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A6192E"/>
                </a:solidFill>
                <a:latin typeface="IBM Plex Sans" pitchFamily="34" charset="0"/>
                <a:ea typeface="IBM Plex Sans" pitchFamily="34" charset="-122"/>
                <a:cs typeface="IBM Plex Sans" pitchFamily="34" charset="-120"/>
              </a:rPr>
              <a:t>Orange:</a:t>
            </a:r>
            <a:r>
              <a:rPr lang="en-US" sz="1600" dirty="0">
                <a:solidFill>
                  <a:srgbClr val="3D3031"/>
                </a:solidFill>
                <a:latin typeface="IBM Plex Sans" pitchFamily="34" charset="0"/>
                <a:ea typeface="IBM Plex Sans" pitchFamily="34" charset="-122"/>
                <a:cs typeface="IBM Plex Sans" pitchFamily="34" charset="-120"/>
              </a:rPr>
              <a:t> banks. </a:t>
            </a:r>
            <a:r>
              <a:rPr lang="en-US" sz="1600" b="1" dirty="0">
                <a:solidFill>
                  <a:srgbClr val="3D3031"/>
                </a:solidFill>
                <a:latin typeface="IBM Plex Sans" pitchFamily="34" charset="0"/>
                <a:ea typeface="IBM Plex Sans" pitchFamily="34" charset="-122"/>
                <a:cs typeface="IBM Plex Sans" pitchFamily="34" charset="-120"/>
              </a:rPr>
              <a:t>Light yellow:</a:t>
            </a:r>
            <a:r>
              <a:rPr lang="en-US" sz="1600" dirty="0">
                <a:solidFill>
                  <a:srgbClr val="3D3031"/>
                </a:solidFill>
                <a:latin typeface="IBM Plex Sans" pitchFamily="34" charset="0"/>
                <a:ea typeface="IBM Plex Sans" pitchFamily="34" charset="-122"/>
                <a:cs typeface="IBM Plex Sans" pitchFamily="34" charset="-120"/>
              </a:rPr>
              <a:t> types, headquarters, services. </a:t>
            </a:r>
            <a:r>
              <a:rPr lang="en-US" sz="1600" b="1" dirty="0">
                <a:solidFill>
                  <a:srgbClr val="3D3031"/>
                </a:solidFill>
                <a:latin typeface="IBM Plex Sans" pitchFamily="34" charset="0"/>
                <a:ea typeface="IBM Plex Sans" pitchFamily="34" charset="-122"/>
                <a:cs typeface="IBM Plex Sans" pitchFamily="34" charset="-120"/>
              </a:rPr>
              <a:t>Blue:</a:t>
            </a:r>
            <a:r>
              <a:rPr lang="en-US" sz="1600" dirty="0">
                <a:solidFill>
                  <a:srgbClr val="3D3031"/>
                </a:solidFill>
                <a:latin typeface="IBM Plex Sans" pitchFamily="34" charset="0"/>
                <a:ea typeface="IBM Plex Sans" pitchFamily="34" charset="-122"/>
                <a:cs typeface="IBM Plex Sans" pitchFamily="34" charset="-120"/>
              </a:rPr>
              <a:t> Wikidata and DBpedia resources.</a:t>
            </a:r>
            <a:endParaRPr lang="en-US" sz="1600" dirty="0"/>
          </a:p>
        </p:txBody>
      </p:sp>
      <p:sp>
        <p:nvSpPr>
          <p:cNvPr id="7" name="Text 4"/>
          <p:cNvSpPr/>
          <p:nvPr/>
        </p:nvSpPr>
        <p:spPr>
          <a:xfrm>
            <a:off x="5562600" y="3788370"/>
            <a:ext cx="5991098" cy="614627"/>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Hanoi, Ho Chi Minh City and Vietnam are linked too, so the internal graph plugs straight into the LOD cloud.</a:t>
            </a:r>
            <a:endParaRPr lang="en-US" sz="1600" dirty="0"/>
          </a:p>
        </p:txBody>
      </p:sp>
      <p:sp>
        <p:nvSpPr>
          <p:cNvPr id="8" name="Text 5"/>
          <p:cNvSpPr/>
          <p:nvPr/>
        </p:nvSpPr>
        <p:spPr>
          <a:xfrm>
            <a:off x="5562600" y="4517299"/>
            <a:ext cx="5991098" cy="320014"/>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Every edge in the figure is a triple in the data file.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3 · FIVE STARS</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38 links, each with evidence</a:t>
            </a:r>
            <a:endParaRPr lang="en-US" sz="3200" dirty="0"/>
          </a:p>
        </p:txBody>
      </p:sp>
      <p:sp>
        <p:nvSpPr>
          <p:cNvPr id="4" name="Shape 2"/>
          <p:cNvSpPr/>
          <p:nvPr/>
        </p:nvSpPr>
        <p:spPr>
          <a:xfrm>
            <a:off x="812800" y="2638692"/>
            <a:ext cx="2667000" cy="1229254"/>
          </a:xfrm>
          <a:prstGeom prst="roundRect">
            <a:avLst>
              <a:gd name="adj" fmla="val 5166"/>
            </a:avLst>
          </a:prstGeom>
          <a:solidFill>
            <a:srgbClr val="A6192E"/>
          </a:solidFill>
          <a:ln/>
        </p:spPr>
        <p:txBody>
          <a:bodyPr/>
          <a:lstStyle/>
          <a:p>
            <a:endParaRPr lang="en-US"/>
          </a:p>
        </p:txBody>
      </p:sp>
      <p:sp>
        <p:nvSpPr>
          <p:cNvPr id="5" name="Text 3"/>
          <p:cNvSpPr/>
          <p:nvPr/>
        </p:nvSpPr>
        <p:spPr>
          <a:xfrm>
            <a:off x="1016000" y="2791092"/>
            <a:ext cx="2328418"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BF4F0"/>
                </a:solidFill>
                <a:latin typeface="Source Serif 4" pitchFamily="18" charset="0"/>
                <a:ea typeface="Source Serif 4" pitchFamily="18" charset="-122"/>
                <a:cs typeface="Source Serif 4" pitchFamily="18" charset="-120"/>
              </a:rPr>
              <a:t>24/30</a:t>
            </a:r>
            <a:endParaRPr lang="en-US" sz="3600" dirty="0"/>
          </a:p>
        </p:txBody>
      </p:sp>
      <p:sp>
        <p:nvSpPr>
          <p:cNvPr id="6" name="Text 4"/>
          <p:cNvSpPr/>
          <p:nvPr/>
        </p:nvSpPr>
        <p:spPr>
          <a:xfrm>
            <a:off x="1016000" y="3431121"/>
            <a:ext cx="2463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E4E6"/>
                </a:solidFill>
                <a:latin typeface="IBM Plex Sans" pitchFamily="34" charset="0"/>
                <a:ea typeface="IBM Plex Sans" pitchFamily="34" charset="-122"/>
                <a:cs typeface="IBM Plex Sans" pitchFamily="34" charset="-120"/>
              </a:rPr>
              <a:t>banks with external links</a:t>
            </a:r>
            <a:endParaRPr lang="en-US" sz="1600" dirty="0"/>
          </a:p>
        </p:txBody>
      </p:sp>
      <p:sp>
        <p:nvSpPr>
          <p:cNvPr id="7" name="Shape 5"/>
          <p:cNvSpPr/>
          <p:nvPr/>
        </p:nvSpPr>
        <p:spPr>
          <a:xfrm>
            <a:off x="815975" y="3998119"/>
            <a:ext cx="2660650" cy="1231371"/>
          </a:xfrm>
          <a:prstGeom prst="roundRect">
            <a:avLst>
              <a:gd name="adj" fmla="val 4899"/>
            </a:avLst>
          </a:prstGeom>
          <a:solidFill>
            <a:srgbClr val="FFFDFB"/>
          </a:solidFill>
          <a:ln w="6350">
            <a:solidFill>
              <a:srgbClr val="E6D9D6"/>
            </a:solidFill>
            <a:prstDash val="solid"/>
          </a:ln>
        </p:spPr>
        <p:txBody>
          <a:bodyPr/>
          <a:lstStyle/>
          <a:p>
            <a:endParaRPr lang="en-US"/>
          </a:p>
        </p:txBody>
      </p:sp>
      <p:sp>
        <p:nvSpPr>
          <p:cNvPr id="8" name="Text 6"/>
          <p:cNvSpPr/>
          <p:nvPr/>
        </p:nvSpPr>
        <p:spPr>
          <a:xfrm>
            <a:off x="1020233" y="4151579"/>
            <a:ext cx="2319697"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6192E"/>
                </a:solidFill>
                <a:latin typeface="Source Serif 4" pitchFamily="18" charset="0"/>
                <a:ea typeface="Source Serif 4" pitchFamily="18" charset="-122"/>
                <a:cs typeface="Source Serif 4" pitchFamily="18" charset="-120"/>
              </a:rPr>
              <a:t>3/3</a:t>
            </a:r>
            <a:endParaRPr lang="en-US" sz="3600" dirty="0"/>
          </a:p>
        </p:txBody>
      </p:sp>
      <p:sp>
        <p:nvSpPr>
          <p:cNvPr id="9" name="Text 7"/>
          <p:cNvSpPr/>
          <p:nvPr/>
        </p:nvSpPr>
        <p:spPr>
          <a:xfrm>
            <a:off x="1020233" y="4791608"/>
            <a:ext cx="2319697"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4A4B"/>
                </a:solidFill>
                <a:latin typeface="IBM Plex Sans" pitchFamily="34" charset="0"/>
                <a:ea typeface="IBM Plex Sans" pitchFamily="34" charset="-122"/>
                <a:cs typeface="IBM Plex Sans" pitchFamily="34" charset="-120"/>
              </a:rPr>
              <a:t>locations linked</a:t>
            </a:r>
            <a:endParaRPr lang="en-US" sz="1600" dirty="0"/>
          </a:p>
        </p:txBody>
      </p:sp>
      <p:sp>
        <p:nvSpPr>
          <p:cNvPr id="10" name="Shape 8"/>
          <p:cNvSpPr/>
          <p:nvPr/>
        </p:nvSpPr>
        <p:spPr>
          <a:xfrm>
            <a:off x="11376025" y="2389522"/>
            <a:ext cx="0" cy="3092318"/>
          </a:xfrm>
          <a:prstGeom prst="line">
            <a:avLst/>
          </a:prstGeom>
          <a:noFill/>
          <a:ln w="6350">
            <a:solidFill>
              <a:srgbClr val="E6D9D6"/>
            </a:solidFill>
            <a:prstDash val="solid"/>
          </a:ln>
        </p:spPr>
        <p:txBody>
          <a:bodyPr/>
          <a:lstStyle/>
          <a:p>
            <a:endParaRPr lang="en-US"/>
          </a:p>
        </p:txBody>
      </p:sp>
      <p:sp>
        <p:nvSpPr>
          <p:cNvPr id="11" name="Shape 9"/>
          <p:cNvSpPr/>
          <p:nvPr/>
        </p:nvSpPr>
        <p:spPr>
          <a:xfrm>
            <a:off x="3784600" y="5478665"/>
            <a:ext cx="7594600" cy="0"/>
          </a:xfrm>
          <a:prstGeom prst="line">
            <a:avLst/>
          </a:prstGeom>
          <a:noFill/>
          <a:ln w="6350">
            <a:solidFill>
              <a:srgbClr val="E6D9D6"/>
            </a:solidFill>
            <a:prstDash val="solid"/>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797300" y="2402222"/>
          <a:ext cx="7577666" cy="3075387"/>
        </p:xfrm>
        <a:graphic>
          <a:graphicData uri="http://schemas.openxmlformats.org/drawingml/2006/table">
            <a:tbl>
              <a:tblPr/>
              <a:tblGrid>
                <a:gridCol w="1515533">
                  <a:extLst>
                    <a:ext uri="{9D8B030D-6E8A-4147-A177-3AD203B41FA5}">
                      <a16:colId xmlns:a16="http://schemas.microsoft.com/office/drawing/2014/main" val="20000"/>
                    </a:ext>
                  </a:extLst>
                </a:gridCol>
                <a:gridCol w="3334173">
                  <a:extLst>
                    <a:ext uri="{9D8B030D-6E8A-4147-A177-3AD203B41FA5}">
                      <a16:colId xmlns:a16="http://schemas.microsoft.com/office/drawing/2014/main" val="20001"/>
                    </a:ext>
                  </a:extLst>
                </a:gridCol>
                <a:gridCol w="1667087">
                  <a:extLst>
                    <a:ext uri="{9D8B030D-6E8A-4147-A177-3AD203B41FA5}">
                      <a16:colId xmlns:a16="http://schemas.microsoft.com/office/drawing/2014/main" val="20002"/>
                    </a:ext>
                  </a:extLst>
                </a:gridCol>
                <a:gridCol w="1060873">
                  <a:extLst>
                    <a:ext uri="{9D8B030D-6E8A-4147-A177-3AD203B41FA5}">
                      <a16:colId xmlns:a16="http://schemas.microsoft.com/office/drawing/2014/main" val="20003"/>
                    </a:ext>
                  </a:extLst>
                </a:gridCol>
              </a:tblGrid>
              <a:tr h="439341">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Entity</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Method</a:t>
                      </a:r>
                      <a:endParaRPr lang="en-US" sz="1600" dirty="0">
                        <a:latin typeface="IBM Plex Sans" charset="0"/>
                        <a:ea typeface="IBM Plex Sans" charset="0"/>
                        <a:cs typeface="IBM Plex Sans" charset="0"/>
                      </a:endParaRPr>
                    </a:p>
                  </a:txBody>
                  <a:tcPr marL="71120" marR="71120" marT="71120" marB="71120">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Confidence</a:t>
                      </a:r>
                      <a:endParaRPr lang="en-US" sz="1600" dirty="0">
                        <a:latin typeface="IBM Plex Sans" charset="0"/>
                        <a:ea typeface="IBM Plex Sans" charset="0"/>
                        <a:cs typeface="IBM Plex Sans" charset="0"/>
                      </a:endParaRPr>
                    </a:p>
                  </a:txBody>
                  <a:tcPr marL="71120" marR="71120" marT="71120" marB="71120">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gn="r">
                        <a:lnSpc>
                          <a:spcPts val="2240"/>
                        </a:lnSpc>
                        <a:buNone/>
                      </a:pPr>
                      <a:r>
                        <a:rPr lang="en-US" sz="1600" b="1" dirty="0">
                          <a:solidFill>
                            <a:srgbClr val="FBF4F0"/>
                          </a:solidFill>
                          <a:latin typeface="IBM Plex Sans" pitchFamily="34" charset="0"/>
                          <a:ea typeface="IBM Plex Sans" pitchFamily="34" charset="-122"/>
                          <a:cs typeface="IBM Plex Sans" pitchFamily="34" charset="-120"/>
                        </a:rPr>
                        <a:t>Count</a:t>
                      </a:r>
                      <a:endParaRPr lang="en-US" sz="1600" dirty="0">
                        <a:latin typeface="IBM Plex Sans" charset="0"/>
                        <a:ea typeface="IBM Plex Sans" charset="0"/>
                        <a:cs typeface="IBM Plex Sans" charset="0"/>
                      </a:endParaRPr>
                    </a:p>
                  </a:txBody>
                  <a:tcPr marL="71120" marR="71120" marT="71120" marB="71120">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Wikidata search, label match</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medium</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18</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Wikidata search (Eximbank)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low</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1</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DBpedia page checked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high</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6</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Wikidata IRI taken from DBpedia</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high</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5</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Bank</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Wikipedia page title</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medium</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2</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Location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Wikidata and DBpedia</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240"/>
                        </a:lnSpc>
                        <a:buNone/>
                      </a:pPr>
                      <a:r>
                        <a:rPr lang="en-US" sz="1600" dirty="0">
                          <a:solidFill>
                            <a:srgbClr val="2B1F20"/>
                          </a:solidFill>
                          <a:latin typeface="IBM Plex Sans" pitchFamily="34" charset="0"/>
                          <a:ea typeface="IBM Plex Sans" pitchFamily="34" charset="-122"/>
                          <a:cs typeface="IBM Plex Sans" pitchFamily="34" charset="-120"/>
                        </a:rPr>
                        <a:t>high</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240"/>
                        </a:lnSpc>
                        <a:buNone/>
                      </a:pPr>
                      <a:r>
                        <a:rPr lang="en-US" sz="1600" dirty="0">
                          <a:solidFill>
                            <a:srgbClr val="2B1F20"/>
                          </a:solidFill>
                          <a:latin typeface="IBM Plex Sans" pitchFamily="34" charset="0"/>
                          <a:ea typeface="IBM Plex Sans" pitchFamily="34" charset="-122"/>
                          <a:cs typeface="IBM Plex Sans" pitchFamily="34" charset="-120"/>
                        </a:rPr>
                        <a:t>6</a:t>
                      </a:r>
                      <a:endParaRPr lang="en-US" sz="1600" dirty="0">
                        <a:latin typeface="IBM Plex Sans" charset="0"/>
                        <a:ea typeface="IBM Plex Sans" charset="0"/>
                        <a:cs typeface="IBM Plex Sans" charset="0"/>
                      </a:endParaRPr>
                    </a:p>
                  </a:txBody>
                  <a:tcPr marL="71120" marR="71120" marT="71120" marB="71120">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4 · REASONING AND QUALITY CHECKS</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OWL RL adds 3,503 triples, no inconsistency</a:t>
            </a:r>
            <a:endParaRPr lang="en-US" sz="3200" dirty="0"/>
          </a:p>
        </p:txBody>
      </p:sp>
      <p:sp>
        <p:nvSpPr>
          <p:cNvPr id="4" name="Shape 2"/>
          <p:cNvSpPr/>
          <p:nvPr/>
        </p:nvSpPr>
        <p:spPr>
          <a:xfrm>
            <a:off x="815975" y="2327870"/>
            <a:ext cx="3295650" cy="1020630"/>
          </a:xfrm>
          <a:prstGeom prst="roundRect">
            <a:avLst>
              <a:gd name="adj" fmla="val 5911"/>
            </a:avLst>
          </a:prstGeom>
          <a:solidFill>
            <a:srgbClr val="FFFDFB"/>
          </a:solidFill>
          <a:ln w="6350">
            <a:solidFill>
              <a:srgbClr val="E6D9D6"/>
            </a:solidFill>
            <a:prstDash val="solid"/>
          </a:ln>
        </p:spPr>
        <p:txBody>
          <a:bodyPr/>
          <a:lstStyle/>
          <a:p>
            <a:endParaRPr lang="en-US"/>
          </a:p>
        </p:txBody>
      </p:sp>
      <p:sp>
        <p:nvSpPr>
          <p:cNvPr id="5" name="Text 3"/>
          <p:cNvSpPr/>
          <p:nvPr/>
        </p:nvSpPr>
        <p:spPr>
          <a:xfrm>
            <a:off x="994833" y="2455931"/>
            <a:ext cx="3026071"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6192E"/>
                </a:solidFill>
                <a:latin typeface="Source Serif 4" pitchFamily="18" charset="0"/>
                <a:ea typeface="Source Serif 4" pitchFamily="18" charset="-122"/>
                <a:cs typeface="Source Serif 4" pitchFamily="18" charset="-120"/>
              </a:rPr>
              <a:t>1,067 → 4,570</a:t>
            </a:r>
            <a:endParaRPr lang="en-US" sz="2800" dirty="0"/>
          </a:p>
        </p:txBody>
      </p:sp>
      <p:sp>
        <p:nvSpPr>
          <p:cNvPr id="6" name="Text 4"/>
          <p:cNvSpPr/>
          <p:nvPr/>
        </p:nvSpPr>
        <p:spPr>
          <a:xfrm>
            <a:off x="994833" y="2953742"/>
            <a:ext cx="302607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A4A4B"/>
                </a:solidFill>
                <a:latin typeface="IBM Plex Sans" pitchFamily="34" charset="0"/>
                <a:ea typeface="IBM Plex Sans" pitchFamily="34" charset="-122"/>
                <a:cs typeface="IBM Plex Sans" pitchFamily="34" charset="-120"/>
              </a:rPr>
              <a:t>triples before and after reasoning</a:t>
            </a:r>
            <a:endParaRPr lang="en-US" sz="1500" dirty="0"/>
          </a:p>
        </p:txBody>
      </p:sp>
      <p:sp>
        <p:nvSpPr>
          <p:cNvPr id="7" name="Shape 5"/>
          <p:cNvSpPr/>
          <p:nvPr/>
        </p:nvSpPr>
        <p:spPr>
          <a:xfrm>
            <a:off x="4111625" y="3465978"/>
            <a:ext cx="0" cy="2080683"/>
          </a:xfrm>
          <a:prstGeom prst="line">
            <a:avLst/>
          </a:prstGeom>
          <a:noFill/>
          <a:ln w="6350">
            <a:solidFill>
              <a:srgbClr val="E6D9D6"/>
            </a:solidFill>
            <a:prstDash val="solid"/>
          </a:ln>
        </p:spPr>
        <p:txBody>
          <a:bodyPr/>
          <a:lstStyle/>
          <a:p>
            <a:endParaRPr lang="en-US"/>
          </a:p>
        </p:txBody>
      </p:sp>
      <p:sp>
        <p:nvSpPr>
          <p:cNvPr id="8" name="Shape 6"/>
          <p:cNvSpPr/>
          <p:nvPr/>
        </p:nvSpPr>
        <p:spPr>
          <a:xfrm>
            <a:off x="812800" y="5543486"/>
            <a:ext cx="3302000" cy="0"/>
          </a:xfrm>
          <a:prstGeom prst="line">
            <a:avLst/>
          </a:prstGeom>
          <a:noFill/>
          <a:ln w="6350">
            <a:solidFill>
              <a:srgbClr val="E6D9D6"/>
            </a:solidFill>
            <a:prstDash val="solid"/>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3478678"/>
          <a:ext cx="3285067" cy="2063750"/>
        </p:xfrm>
        <a:graphic>
          <a:graphicData uri="http://schemas.openxmlformats.org/drawingml/2006/table">
            <a:tbl>
              <a:tblPr/>
              <a:tblGrid>
                <a:gridCol w="2299547">
                  <a:extLst>
                    <a:ext uri="{9D8B030D-6E8A-4147-A177-3AD203B41FA5}">
                      <a16:colId xmlns:a16="http://schemas.microsoft.com/office/drawing/2014/main" val="20000"/>
                    </a:ext>
                  </a:extLst>
                </a:gridCol>
                <a:gridCol w="98552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Inferred</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gn="r">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Count</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StateOwnedBank</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5</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JointStockBank</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DigitalBank</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28</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isProvidedBy</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202</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bl>
          </a:graphicData>
        </a:graphic>
      </p:graphicFrame>
      <p:sp>
        <p:nvSpPr>
          <p:cNvPr id="10" name="Shape 7"/>
          <p:cNvSpPr/>
          <p:nvPr/>
        </p:nvSpPr>
        <p:spPr>
          <a:xfrm>
            <a:off x="4368800" y="2119579"/>
            <a:ext cx="7010400" cy="3302000"/>
          </a:xfrm>
          <a:prstGeom prst="roundRect">
            <a:avLst>
              <a:gd name="adj" fmla="val 1923"/>
            </a:avLst>
          </a:prstGeom>
          <a:solidFill>
            <a:srgbClr val="EDE6E3"/>
          </a:solidFill>
          <a:ln/>
        </p:spPr>
        <p:txBody>
          <a:bodyPr/>
          <a:lstStyle/>
          <a:p>
            <a:endParaRPr lang="en-US"/>
          </a:p>
        </p:txBody>
      </p:sp>
      <p:pic>
        <p:nvPicPr>
          <p:cNvPr id="11" name="Image 0" descr="Notebook cell with data quality checks, all returning 0"/>
          <p:cNvPicPr>
            <a:picLocks noChangeAspect="1"/>
          </p:cNvPicPr>
          <p:nvPr/>
        </p:nvPicPr>
        <p:blipFill>
          <a:blip r:embed="rId3"/>
          <a:srcRect l="-14795" r="-14795"/>
          <a:stretch/>
        </p:blipFill>
        <p:spPr>
          <a:xfrm>
            <a:off x="4432300" y="2183079"/>
            <a:ext cx="6883400" cy="3175000"/>
          </a:xfrm>
          <a:prstGeom prst="rect">
            <a:avLst/>
          </a:prstGeom>
        </p:spPr>
      </p:pic>
      <p:sp>
        <p:nvSpPr>
          <p:cNvPr id="12" name="Text 8"/>
          <p:cNvSpPr/>
          <p:nvPr/>
        </p:nvSpPr>
        <p:spPr>
          <a:xfrm>
            <a:off x="4368800" y="5485079"/>
            <a:ext cx="722071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7A6869"/>
                </a:solidFill>
                <a:latin typeface="IBM Plex Sans" pitchFamily="34" charset="0"/>
                <a:ea typeface="IBM Plex Sans" pitchFamily="34" charset="-122"/>
                <a:cs typeface="IBM Plex Sans" pitchFamily="34" charset="-120"/>
              </a:rPr>
              <a:t>Quality-check cell in the notebook: zero violations.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4 · SPARQL INTERFACE</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16 queries covering SPARQL 1.1</a:t>
            </a:r>
            <a:endParaRPr lang="en-US" sz="3200" dirty="0"/>
          </a:p>
        </p:txBody>
      </p:sp>
      <p:sp>
        <p:nvSpPr>
          <p:cNvPr id="4" name="Shape 2"/>
          <p:cNvSpPr/>
          <p:nvPr/>
        </p:nvSpPr>
        <p:spPr>
          <a:xfrm>
            <a:off x="5991225" y="2069840"/>
            <a:ext cx="0" cy="3731683"/>
          </a:xfrm>
          <a:prstGeom prst="line">
            <a:avLst/>
          </a:prstGeom>
          <a:noFill/>
          <a:ln w="6350">
            <a:solidFill>
              <a:srgbClr val="E6D9D6"/>
            </a:solidFill>
            <a:prstDash val="solid"/>
          </a:ln>
        </p:spPr>
        <p:txBody>
          <a:bodyPr/>
          <a:lstStyle/>
          <a:p>
            <a:endParaRPr lang="en-US"/>
          </a:p>
        </p:txBody>
      </p:sp>
      <p:sp>
        <p:nvSpPr>
          <p:cNvPr id="5" name="Shape 3"/>
          <p:cNvSpPr/>
          <p:nvPr/>
        </p:nvSpPr>
        <p:spPr>
          <a:xfrm>
            <a:off x="812800" y="5798348"/>
            <a:ext cx="5181600" cy="0"/>
          </a:xfrm>
          <a:prstGeom prst="line">
            <a:avLst/>
          </a:prstGeom>
          <a:noFill/>
          <a:ln w="6350">
            <a:solidFill>
              <a:srgbClr val="E6D9D6"/>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082540"/>
          <a:ext cx="5164666" cy="3714750"/>
        </p:xfrm>
        <a:graphic>
          <a:graphicData uri="http://schemas.openxmlformats.org/drawingml/2006/table">
            <a:tbl>
              <a:tblPr/>
              <a:tblGrid>
                <a:gridCol w="723053">
                  <a:extLst>
                    <a:ext uri="{9D8B030D-6E8A-4147-A177-3AD203B41FA5}">
                      <a16:colId xmlns:a16="http://schemas.microsoft.com/office/drawing/2014/main" val="20000"/>
                    </a:ext>
                  </a:extLst>
                </a:gridCol>
                <a:gridCol w="3098800">
                  <a:extLst>
                    <a:ext uri="{9D8B030D-6E8A-4147-A177-3AD203B41FA5}">
                      <a16:colId xmlns:a16="http://schemas.microsoft.com/office/drawing/2014/main" val="20001"/>
                    </a:ext>
                  </a:extLst>
                </a:gridCol>
                <a:gridCol w="1342813">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ID</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Technique</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gn="r">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Result</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SELECT, OPTIONAL, path</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30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Q2</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Inferred class StateOwnedBank</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5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Q3</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Internal IRI match</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20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Q4</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Inferred class DigitalBank</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28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Q5</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Numeric FILTER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6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Q6</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BIND, IF</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32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Q7</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Inverse isProvidedBy</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28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7"/>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Q8</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Inverse isHeadquartersOf</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20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8"/>
                  </a:ext>
                </a:extLst>
              </a:tr>
            </a:tbl>
          </a:graphicData>
        </a:graphic>
      </p:graphicFrame>
      <p:sp>
        <p:nvSpPr>
          <p:cNvPr id="7" name="Shape 4"/>
          <p:cNvSpPr/>
          <p:nvPr/>
        </p:nvSpPr>
        <p:spPr>
          <a:xfrm>
            <a:off x="11376025" y="2069840"/>
            <a:ext cx="0" cy="3731683"/>
          </a:xfrm>
          <a:prstGeom prst="line">
            <a:avLst/>
          </a:prstGeom>
          <a:noFill/>
          <a:ln w="6350">
            <a:solidFill>
              <a:srgbClr val="E6D9D6"/>
            </a:solidFill>
            <a:prstDash val="solid"/>
          </a:ln>
        </p:spPr>
        <p:txBody>
          <a:bodyPr/>
          <a:lstStyle/>
          <a:p>
            <a:endParaRPr lang="en-US"/>
          </a:p>
        </p:txBody>
      </p:sp>
      <p:sp>
        <p:nvSpPr>
          <p:cNvPr id="8" name="Shape 5"/>
          <p:cNvSpPr/>
          <p:nvPr/>
        </p:nvSpPr>
        <p:spPr>
          <a:xfrm>
            <a:off x="6197600" y="5798348"/>
            <a:ext cx="5181600" cy="0"/>
          </a:xfrm>
          <a:prstGeom prst="line">
            <a:avLst/>
          </a:prstGeom>
          <a:noFill/>
          <a:ln w="6350">
            <a:solidFill>
              <a:srgbClr val="E6D9D6"/>
            </a:solidFill>
            <a:prstDash val="solid"/>
          </a:ln>
        </p:spPr>
        <p:txBody>
          <a:bodyPr/>
          <a:lstStyle/>
          <a:p>
            <a:endParaRPr lang="en-US"/>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10300" y="2082540"/>
          <a:ext cx="5164666" cy="3714750"/>
        </p:xfrm>
        <a:graphic>
          <a:graphicData uri="http://schemas.openxmlformats.org/drawingml/2006/table">
            <a:tbl>
              <a:tblPr/>
              <a:tblGrid>
                <a:gridCol w="723053">
                  <a:extLst>
                    <a:ext uri="{9D8B030D-6E8A-4147-A177-3AD203B41FA5}">
                      <a16:colId xmlns:a16="http://schemas.microsoft.com/office/drawing/2014/main" val="20000"/>
                    </a:ext>
                  </a:extLst>
                </a:gridCol>
                <a:gridCol w="3098800">
                  <a:extLst>
                    <a:ext uri="{9D8B030D-6E8A-4147-A177-3AD203B41FA5}">
                      <a16:colId xmlns:a16="http://schemas.microsoft.com/office/drawing/2014/main" val="20001"/>
                    </a:ext>
                  </a:extLst>
                </a:gridCol>
                <a:gridCol w="1342813">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ID</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Technique</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gn="r">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Result</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Q9</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COUNT, GROUP BY</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5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Q10</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ASK</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true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Q11</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CONSTRUCT to schema.org</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280 triples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Q12</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FILTER NOT EXISTS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6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Q13</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UNION, BIND</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6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Q14</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DESCRIBE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27 triples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Q15</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SERVICE to Wikidata</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live</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7"/>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Q16</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Free query in terminal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gn="r">
                        <a:lnSpc>
                          <a:spcPts val="2100"/>
                        </a:lnSpc>
                        <a:buNone/>
                      </a:pPr>
                      <a:r>
                        <a:rPr lang="en-US" sz="1500" dirty="0">
                          <a:solidFill>
                            <a:srgbClr val="2B1F20"/>
                          </a:solidFill>
                          <a:latin typeface="IBM Plex Sans" pitchFamily="34" charset="0"/>
                          <a:ea typeface="IBM Plex Sans" pitchFamily="34" charset="-122"/>
                          <a:cs typeface="IBM Plex Sans" pitchFamily="34" charset="-120"/>
                        </a:rPr>
                        <a:t>2 rows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4 · ACTUAL RUN RESULTS</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Hanoi headquarters and counts by bank type</a:t>
            </a:r>
            <a:endParaRPr lang="en-US" sz="3200" dirty="0"/>
          </a:p>
        </p:txBody>
      </p:sp>
      <p:sp>
        <p:nvSpPr>
          <p:cNvPr id="4" name="Shape 2"/>
          <p:cNvSpPr/>
          <p:nvPr/>
        </p:nvSpPr>
        <p:spPr>
          <a:xfrm>
            <a:off x="812800" y="2164029"/>
            <a:ext cx="5181600" cy="3175000"/>
          </a:xfrm>
          <a:prstGeom prst="roundRect">
            <a:avLst>
              <a:gd name="adj" fmla="val 2000"/>
            </a:avLst>
          </a:prstGeom>
          <a:solidFill>
            <a:srgbClr val="EDE6E3"/>
          </a:solidFill>
          <a:ln/>
        </p:spPr>
        <p:txBody>
          <a:bodyPr/>
          <a:lstStyle/>
          <a:p>
            <a:endParaRPr lang="en-US"/>
          </a:p>
        </p:txBody>
      </p:sp>
      <p:pic>
        <p:nvPicPr>
          <p:cNvPr id="5" name="Image 0" descr="Notebook: query Q3 and the first of its 20 results"/>
          <p:cNvPicPr>
            <a:picLocks noChangeAspect="1"/>
          </p:cNvPicPr>
          <p:nvPr/>
        </p:nvPicPr>
        <p:blipFill>
          <a:blip r:embed="rId3"/>
          <a:srcRect t="-1329" b="-1329"/>
          <a:stretch/>
        </p:blipFill>
        <p:spPr>
          <a:xfrm>
            <a:off x="876300" y="2227529"/>
            <a:ext cx="5054600" cy="3048000"/>
          </a:xfrm>
          <a:prstGeom prst="rect">
            <a:avLst/>
          </a:prstGeom>
        </p:spPr>
      </p:pic>
      <p:sp>
        <p:nvSpPr>
          <p:cNvPr id="6" name="Text 3"/>
          <p:cNvSpPr/>
          <p:nvPr/>
        </p:nvSpPr>
        <p:spPr>
          <a:xfrm>
            <a:off x="812800" y="5415229"/>
            <a:ext cx="53370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031"/>
                </a:solidFill>
                <a:latin typeface="IBM Plex Sans" pitchFamily="34" charset="0"/>
                <a:ea typeface="IBM Plex Sans" pitchFamily="34" charset="-122"/>
                <a:cs typeface="IBM Plex Sans" pitchFamily="34" charset="-120"/>
              </a:rPr>
              <a:t>Q3: 20 banks, no owl:sameAs duplicates</a:t>
            </a:r>
            <a:endParaRPr lang="en-US" sz="1500" dirty="0"/>
          </a:p>
        </p:txBody>
      </p:sp>
      <p:sp>
        <p:nvSpPr>
          <p:cNvPr id="7" name="Shape 4"/>
          <p:cNvSpPr/>
          <p:nvPr/>
        </p:nvSpPr>
        <p:spPr>
          <a:xfrm>
            <a:off x="6197600" y="2164029"/>
            <a:ext cx="5181600" cy="3175000"/>
          </a:xfrm>
          <a:prstGeom prst="roundRect">
            <a:avLst>
              <a:gd name="adj" fmla="val 2000"/>
            </a:avLst>
          </a:prstGeom>
          <a:solidFill>
            <a:srgbClr val="EDE6E3"/>
          </a:solidFill>
          <a:ln/>
        </p:spPr>
        <p:txBody>
          <a:bodyPr/>
          <a:lstStyle/>
          <a:p>
            <a:endParaRPr lang="en-US"/>
          </a:p>
        </p:txBody>
      </p:sp>
      <p:pic>
        <p:nvPicPr>
          <p:cNvPr id="8" name="Image 1" descr="Notebook: query Q9 counting banks by type"/>
          <p:cNvPicPr>
            <a:picLocks noChangeAspect="1"/>
          </p:cNvPicPr>
          <p:nvPr/>
        </p:nvPicPr>
        <p:blipFill>
          <a:blip r:embed="rId4"/>
          <a:srcRect t="-5311" b="-5311"/>
          <a:stretch/>
        </p:blipFill>
        <p:spPr>
          <a:xfrm>
            <a:off x="6261100" y="2227529"/>
            <a:ext cx="5054600" cy="3048000"/>
          </a:xfrm>
          <a:prstGeom prst="rect">
            <a:avLst/>
          </a:prstGeom>
        </p:spPr>
      </p:pic>
      <p:sp>
        <p:nvSpPr>
          <p:cNvPr id="9" name="Text 5"/>
          <p:cNvSpPr/>
          <p:nvPr/>
        </p:nvSpPr>
        <p:spPr>
          <a:xfrm>
            <a:off x="6197600" y="5415229"/>
            <a:ext cx="53370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3031"/>
                </a:solidFill>
                <a:latin typeface="IBM Plex Sans" pitchFamily="34" charset="0"/>
                <a:ea typeface="IBM Plex Sans" pitchFamily="34" charset="-122"/>
                <a:cs typeface="IBM Plex Sans" pitchFamily="34" charset="-120"/>
              </a:rPr>
              <a:t>Q9: 20 + 5 + 2 + 2 + 1 = 30 banks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4 · FEDERATED QUERY</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Links are used at query time</a:t>
            </a:r>
            <a:endParaRPr lang="en-US" sz="3200" dirty="0"/>
          </a:p>
        </p:txBody>
      </p:sp>
      <p:sp>
        <p:nvSpPr>
          <p:cNvPr id="4" name="Shape 2"/>
          <p:cNvSpPr/>
          <p:nvPr/>
        </p:nvSpPr>
        <p:spPr>
          <a:xfrm>
            <a:off x="812800" y="2081485"/>
            <a:ext cx="6731000" cy="3683000"/>
          </a:xfrm>
          <a:prstGeom prst="roundRect">
            <a:avLst>
              <a:gd name="adj" fmla="val 1724"/>
            </a:avLst>
          </a:prstGeom>
          <a:solidFill>
            <a:srgbClr val="EDE6E3"/>
          </a:solidFill>
          <a:ln/>
        </p:spPr>
        <p:txBody>
          <a:bodyPr/>
          <a:lstStyle/>
          <a:p>
            <a:endParaRPr lang="en-US"/>
          </a:p>
        </p:txBody>
      </p:sp>
      <p:pic>
        <p:nvPicPr>
          <p:cNvPr id="5" name="Image 0" descr="Source of query Q15 using SERVICE against the Wikidata endpoint"/>
          <p:cNvPicPr>
            <a:picLocks noChangeAspect="1"/>
          </p:cNvPicPr>
          <p:nvPr/>
        </p:nvPicPr>
        <p:blipFill>
          <a:blip r:embed="rId3"/>
          <a:srcRect l="-4894" r="-4894"/>
          <a:stretch/>
        </p:blipFill>
        <p:spPr>
          <a:xfrm>
            <a:off x="876300" y="2144985"/>
            <a:ext cx="6604000" cy="3556000"/>
          </a:xfrm>
          <a:prstGeom prst="rect">
            <a:avLst/>
          </a:prstGeom>
        </p:spPr>
      </p:pic>
      <p:sp>
        <p:nvSpPr>
          <p:cNvPr id="6" name="Text 3"/>
          <p:cNvSpPr/>
          <p:nvPr/>
        </p:nvSpPr>
        <p:spPr>
          <a:xfrm>
            <a:off x="7797800" y="2752130"/>
            <a:ext cx="3688842" cy="614627"/>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Q15 sends the banks' 24 Wikidata IRIs to query.wikidata.org.</a:t>
            </a:r>
            <a:endParaRPr lang="en-US" sz="1600" dirty="0"/>
          </a:p>
        </p:txBody>
      </p:sp>
      <p:sp>
        <p:nvSpPr>
          <p:cNvPr id="7" name="Text 4"/>
          <p:cNvSpPr/>
          <p:nvPr/>
        </p:nvSpPr>
        <p:spPr>
          <a:xfrm>
            <a:off x="7797800" y="3481065"/>
            <a:ext cx="3688842" cy="9092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Wikidata returns English labels and inception dates (P571), shown next to our internal founding years.</a:t>
            </a:r>
            <a:endParaRPr lang="en-US" sz="1600" dirty="0"/>
          </a:p>
        </p:txBody>
      </p:sp>
      <p:sp>
        <p:nvSpPr>
          <p:cNvPr id="8" name="Text 5"/>
          <p:cNvSpPr/>
          <p:nvPr/>
        </p:nvSpPr>
        <p:spPr>
          <a:xfrm>
            <a:off x="7797800" y="4504606"/>
            <a:ext cx="3688842" cy="614627"/>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D3031"/>
                </a:solidFill>
                <a:latin typeface="IBM Plex Sans" pitchFamily="34" charset="0"/>
                <a:ea typeface="IBM Plex Sans" pitchFamily="34" charset="-122"/>
                <a:cs typeface="IBM Plex Sans" pitchFamily="34" charset="-120"/>
              </a:rPr>
              <a:t>This is working proof of the fifth star. The query ran successfully on Colab.</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00" dirty="0">
                <a:solidFill>
                  <a:srgbClr val="A6192E"/>
                </a:solidFill>
                <a:latin typeface="IBM Plex Sans" pitchFamily="34" charset="0"/>
                <a:ea typeface="IBM Plex Sans" pitchFamily="34" charset="-122"/>
                <a:cs typeface="IBM Plex Sans" pitchFamily="34" charset="-120"/>
              </a:rPr>
              <a:t>PART 4 · EVALUATION</a:t>
            </a:r>
            <a:endParaRPr lang="en-US" sz="1500" dirty="0"/>
          </a:p>
        </p:txBody>
      </p:sp>
      <p:sp>
        <p:nvSpPr>
          <p:cNvPr id="3" name="Text 1"/>
          <p:cNvSpPr>
            <a:spLocks noGrp="1"/>
          </p:cNvSpPr>
          <p:nvPr>
            <p:ph type="title"/>
          </p:nvPr>
        </p:nvSpPr>
        <p:spPr>
          <a:xfrm>
            <a:off x="812800" y="10541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1A1C"/>
                </a:solidFill>
                <a:latin typeface="Source Serif 4" pitchFamily="18" charset="0"/>
                <a:ea typeface="Source Serif 4" pitchFamily="18" charset="-122"/>
                <a:cs typeface="Source Serif 4" pitchFamily="18" charset="-120"/>
              </a:rPr>
              <a:t>Five stars, three limitations</a:t>
            </a:r>
            <a:endParaRPr lang="en-US" sz="3200" dirty="0"/>
          </a:p>
        </p:txBody>
      </p:sp>
      <p:sp>
        <p:nvSpPr>
          <p:cNvPr id="4" name="Shape 2"/>
          <p:cNvSpPr/>
          <p:nvPr/>
        </p:nvSpPr>
        <p:spPr>
          <a:xfrm>
            <a:off x="6270625" y="2276215"/>
            <a:ext cx="0" cy="3318933"/>
          </a:xfrm>
          <a:prstGeom prst="line">
            <a:avLst/>
          </a:prstGeom>
          <a:noFill/>
          <a:ln w="6350">
            <a:solidFill>
              <a:srgbClr val="E6D9D6"/>
            </a:solidFill>
            <a:prstDash val="solid"/>
          </a:ln>
        </p:spPr>
        <p:txBody>
          <a:bodyPr/>
          <a:lstStyle/>
          <a:p>
            <a:endParaRPr lang="en-US"/>
          </a:p>
        </p:txBody>
      </p:sp>
      <p:sp>
        <p:nvSpPr>
          <p:cNvPr id="5" name="Shape 3"/>
          <p:cNvSpPr/>
          <p:nvPr/>
        </p:nvSpPr>
        <p:spPr>
          <a:xfrm>
            <a:off x="812800" y="5591973"/>
            <a:ext cx="5461000" cy="0"/>
          </a:xfrm>
          <a:prstGeom prst="line">
            <a:avLst/>
          </a:prstGeom>
          <a:noFill/>
          <a:ln w="6350">
            <a:solidFill>
              <a:srgbClr val="E6D9D6"/>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288915"/>
          <a:ext cx="5444067" cy="3302000"/>
        </p:xfrm>
        <a:graphic>
          <a:graphicData uri="http://schemas.openxmlformats.org/drawingml/2006/table">
            <a:tbl>
              <a:tblPr/>
              <a:tblGrid>
                <a:gridCol w="3593084">
                  <a:extLst>
                    <a:ext uri="{9D8B030D-6E8A-4147-A177-3AD203B41FA5}">
                      <a16:colId xmlns:a16="http://schemas.microsoft.com/office/drawing/2014/main" val="20000"/>
                    </a:ext>
                  </a:extLst>
                </a:gridCol>
                <a:gridCol w="1850983">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Linked Data best practice</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tc>
                  <a:txBody>
                    <a:bodyPr/>
                    <a:lstStyle/>
                    <a:p>
                      <a:pPr marL="0" indent="0">
                        <a:lnSpc>
                          <a:spcPts val="2100"/>
                        </a:lnSpc>
                        <a:buNone/>
                      </a:pPr>
                      <a:r>
                        <a:rPr lang="en-US" sz="1500" b="1" dirty="0">
                          <a:solidFill>
                            <a:srgbClr val="FBF4F0"/>
                          </a:solidFill>
                          <a:latin typeface="IBM Plex Sans" pitchFamily="34" charset="0"/>
                          <a:ea typeface="IBM Plex Sans" pitchFamily="34" charset="-122"/>
                          <a:cs typeface="IBM Plex Sans" pitchFamily="34" charset="-120"/>
                        </a:rPr>
                        <a:t>Status</a:t>
                      </a:r>
                      <a:endParaRPr lang="en-US" sz="1500" dirty="0">
                        <a:latin typeface="IBM Plex Sans" charset="0"/>
                        <a:ea typeface="IBM Plex Sans" charset="0"/>
                        <a:cs typeface="IBM Plex Sans" charset="0"/>
                      </a:endParaRPr>
                    </a:p>
                  </a:txBody>
                  <a:tcPr marL="66675" marR="66675" marT="66675" marB="66675">
                    <a:lnL w="12700" cap="flat" cmpd="sng" algn="ctr">
                      <a:solidFill>
                        <a:srgbClr val="861828"/>
                      </a:solidFill>
                      <a:prstDash val="solid"/>
                      <a:round/>
                      <a:headEnd type="none" w="med" len="med"/>
                      <a:tailEnd type="none" w="med" len="med"/>
                    </a:lnL>
                    <a:lnR w="12700" cap="flat" cmpd="sng" algn="ctr">
                      <a:solidFill>
                        <a:srgbClr val="86182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861828"/>
                      </a:solidFill>
                      <a:prstDash val="solid"/>
                      <a:round/>
                      <a:headEnd type="none" w="med" len="med"/>
                      <a:tailEnd type="none" w="med" len="med"/>
                    </a:lnB>
                    <a:solidFill>
                      <a:srgbClr val="A6192E"/>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Dereferenceable URIs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partial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861828"/>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Outgoing RDF links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met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Well-known vocabularies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met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Dereferenceable own terms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not met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Mapping of own terms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partial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Provenance, licence, VoID</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met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BEBC"/>
                      </a:solidFill>
                      <a:prstDash val="solid"/>
                      <a:round/>
                      <a:headEnd type="none" w="med" len="med"/>
                      <a:tailEnd type="none" w="med" len="med"/>
                    </a:lnL>
                    <a:lnR w="12700" cap="flat" cmpd="sng" algn="ctr">
                      <a:solidFill>
                        <a:srgbClr val="C4BEBC"/>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4BEBC"/>
                      </a:solidFill>
                      <a:prstDash val="solid"/>
                      <a:round/>
                      <a:headEnd type="none" w="med" len="med"/>
                      <a:tailEnd type="none" w="med" len="med"/>
                    </a:lnB>
                    <a:solidFill>
                      <a:srgbClr val="F6EEEC"/>
                    </a:solidFill>
                  </a:tcPr>
                </a:tc>
                <a:extLst>
                  <a:ext uri="{0D108BD9-81ED-4DB2-BD59-A6C34878D82A}">
                    <a16:rowId xmlns:a16="http://schemas.microsoft.com/office/drawing/2014/main" val="10006"/>
                  </a:ext>
                </a:extLst>
              </a:tr>
              <a:tr h="412750">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Alternative access methods</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marL="0" indent="0">
                        <a:lnSpc>
                          <a:spcPts val="2100"/>
                        </a:lnSpc>
                        <a:buNone/>
                      </a:pPr>
                      <a:r>
                        <a:rPr lang="en-US" sz="1500" dirty="0">
                          <a:solidFill>
                            <a:srgbClr val="2B1F20"/>
                          </a:solidFill>
                          <a:latin typeface="IBM Plex Sans" pitchFamily="34" charset="0"/>
                          <a:ea typeface="IBM Plex Sans" pitchFamily="34" charset="-122"/>
                          <a:cs typeface="IBM Plex Sans" pitchFamily="34" charset="-120"/>
                        </a:rPr>
                        <a:t>met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4BEBC"/>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6527800" y="2923654"/>
            <a:ext cx="4996942"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1A1C"/>
                </a:solidFill>
                <a:latin typeface="IBM Plex Sans" pitchFamily="34" charset="0"/>
                <a:ea typeface="IBM Plex Sans" pitchFamily="34" charset="-122"/>
                <a:cs typeface="IBM Plex Sans" pitchFamily="34" charset="-120"/>
              </a:rPr>
              <a:t>Limitations</a:t>
            </a:r>
            <a:endParaRPr lang="en-US" sz="1700" dirty="0"/>
          </a:p>
        </p:txBody>
      </p:sp>
      <p:sp>
        <p:nvSpPr>
          <p:cNvPr id="8" name="Text 5"/>
          <p:cNvSpPr/>
          <p:nvPr/>
        </p:nvSpPr>
        <p:spPr>
          <a:xfrm>
            <a:off x="6527800" y="3296977"/>
            <a:ext cx="499694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Services assigned by bank type, not verified per bank.</a:t>
            </a:r>
            <a:endParaRPr lang="en-US" sz="1600" dirty="0"/>
          </a:p>
        </p:txBody>
      </p:sp>
      <p:sp>
        <p:nvSpPr>
          <p:cNvPr id="9" name="Text 6"/>
          <p:cNvSpPr/>
          <p:nvPr/>
        </p:nvSpPr>
        <p:spPr>
          <a:xfrm>
            <a:off x="6527800" y="3980135"/>
            <a:ext cx="499694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19 Wikidata links are label matches only.</a:t>
            </a:r>
            <a:endParaRPr lang="en-US" sz="1600" dirty="0"/>
          </a:p>
        </p:txBody>
      </p:sp>
      <p:sp>
        <p:nvSpPr>
          <p:cNvPr id="10" name="Text 7"/>
          <p:cNvSpPr/>
          <p:nvPr/>
        </p:nvSpPr>
        <p:spPr>
          <a:xfrm>
            <a:off x="6527800" y="4378858"/>
            <a:ext cx="499694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3031"/>
                </a:solidFill>
                <a:latin typeface="IBM Plex Sans" pitchFamily="34" charset="0"/>
                <a:ea typeface="IBM Plex Sans" pitchFamily="34" charset="-122"/>
                <a:cs typeface="IBM Plex Sans" pitchFamily="34" charset="-120"/>
              </a:rPr>
              <a:t>The example.org domain is not dereferenceable; no public endpoint yet.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E1526"/>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9E1A2C"/>
              </a:gs>
              <a:gs pos="100000">
                <a:srgbClr val="7A1020"/>
              </a:gs>
            </a:gsLst>
            <a:lin ang="2700000" scaled="0"/>
          </a:gradFill>
          <a:ln/>
        </p:spPr>
        <p:txBody>
          <a:bodyPr/>
          <a:lstStyle/>
          <a:p>
            <a:endParaRPr lang="en-US"/>
          </a:p>
        </p:txBody>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3D3D7"/>
                </a:solidFill>
                <a:latin typeface="IBM Plex Sans" pitchFamily="34" charset="0"/>
                <a:ea typeface="IBM Plex Sans" pitchFamily="34" charset="-122"/>
                <a:cs typeface="IBM Plex Sans" pitchFamily="34" charset="-120"/>
              </a:rPr>
              <a:t>CONCLUSION</a:t>
            </a:r>
            <a:endParaRPr lang="en-US" sz="1400" dirty="0"/>
          </a:p>
        </p:txBody>
      </p:sp>
      <p:sp>
        <p:nvSpPr>
          <p:cNvPr id="4" name="Text 2"/>
          <p:cNvSpPr>
            <a:spLocks noGrp="1"/>
          </p:cNvSpPr>
          <p:nvPr>
            <p:ph type="title"/>
          </p:nvPr>
        </p:nvSpPr>
        <p:spPr>
          <a:xfrm>
            <a:off x="812800" y="1214115"/>
            <a:ext cx="9810750" cy="1076854"/>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BF4F0"/>
                </a:solidFill>
                <a:latin typeface="Source Serif 4" pitchFamily="18" charset="0"/>
                <a:ea typeface="Source Serif 4" pitchFamily="18" charset="-122"/>
                <a:cs typeface="Source Serif 4" pitchFamily="18" charset="-120"/>
              </a:rPr>
              <a:t>Public data on 30 Vietnamese banks, published as five-star Linked Open Data</a:t>
            </a:r>
            <a:endParaRPr lang="en-US" sz="3600" dirty="0"/>
          </a:p>
        </p:txBody>
      </p:sp>
      <p:sp>
        <p:nvSpPr>
          <p:cNvPr id="5" name="Shape 3"/>
          <p:cNvSpPr/>
          <p:nvPr/>
        </p:nvSpPr>
        <p:spPr>
          <a:xfrm>
            <a:off x="812800" y="3505200"/>
            <a:ext cx="3403600" cy="0"/>
          </a:xfrm>
          <a:prstGeom prst="line">
            <a:avLst/>
          </a:prstGeom>
          <a:noFill/>
          <a:ln w="25400">
            <a:solidFill>
              <a:srgbClr val="F3D3D7"/>
            </a:solidFill>
            <a:prstDash val="solid"/>
          </a:ln>
        </p:spPr>
        <p:txBody>
          <a:bodyPr/>
          <a:lstStyle/>
          <a:p>
            <a:endParaRPr lang="en-US"/>
          </a:p>
        </p:txBody>
      </p:sp>
      <p:sp>
        <p:nvSpPr>
          <p:cNvPr id="6" name="Text 4"/>
          <p:cNvSpPr/>
          <p:nvPr/>
        </p:nvSpPr>
        <p:spPr>
          <a:xfrm>
            <a:off x="812800" y="3644900"/>
            <a:ext cx="350570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The OWL 2 ontology answers all six competency questions.</a:t>
            </a:r>
            <a:endParaRPr lang="en-US" sz="1500" dirty="0"/>
          </a:p>
        </p:txBody>
      </p:sp>
      <p:sp>
        <p:nvSpPr>
          <p:cNvPr id="7" name="Shape 5"/>
          <p:cNvSpPr/>
          <p:nvPr/>
        </p:nvSpPr>
        <p:spPr>
          <a:xfrm>
            <a:off x="4394200" y="3505200"/>
            <a:ext cx="3403600" cy="0"/>
          </a:xfrm>
          <a:prstGeom prst="line">
            <a:avLst/>
          </a:prstGeom>
          <a:noFill/>
          <a:ln w="25400">
            <a:solidFill>
              <a:srgbClr val="F3D3D7"/>
            </a:solidFill>
            <a:prstDash val="solid"/>
          </a:ln>
        </p:spPr>
        <p:txBody>
          <a:bodyPr/>
          <a:lstStyle/>
          <a:p>
            <a:endParaRPr lang="en-US"/>
          </a:p>
        </p:txBody>
      </p:sp>
      <p:sp>
        <p:nvSpPr>
          <p:cNvPr id="8" name="Text 6"/>
          <p:cNvSpPr/>
          <p:nvPr/>
        </p:nvSpPr>
        <p:spPr>
          <a:xfrm>
            <a:off x="4394200" y="3644900"/>
            <a:ext cx="350570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30 banks, 1,067 triples, 38 evidenced links.</a:t>
            </a:r>
            <a:endParaRPr lang="en-US" sz="1500" dirty="0"/>
          </a:p>
        </p:txBody>
      </p:sp>
      <p:sp>
        <p:nvSpPr>
          <p:cNvPr id="9" name="Shape 7"/>
          <p:cNvSpPr/>
          <p:nvPr/>
        </p:nvSpPr>
        <p:spPr>
          <a:xfrm>
            <a:off x="7975600" y="3505200"/>
            <a:ext cx="3403600" cy="0"/>
          </a:xfrm>
          <a:prstGeom prst="line">
            <a:avLst/>
          </a:prstGeom>
          <a:noFill/>
          <a:ln w="25400">
            <a:solidFill>
              <a:srgbClr val="F3D3D7"/>
            </a:solidFill>
            <a:prstDash val="solid"/>
          </a:ln>
        </p:spPr>
        <p:txBody>
          <a:bodyPr/>
          <a:lstStyle/>
          <a:p>
            <a:endParaRPr lang="en-US"/>
          </a:p>
        </p:txBody>
      </p:sp>
      <p:sp>
        <p:nvSpPr>
          <p:cNvPr id="10" name="Text 8"/>
          <p:cNvSpPr/>
          <p:nvPr/>
        </p:nvSpPr>
        <p:spPr>
          <a:xfrm>
            <a:off x="7975600" y="3644900"/>
            <a:ext cx="350570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4F0"/>
                </a:solidFill>
                <a:latin typeface="IBM Plex Sans" pitchFamily="34" charset="0"/>
                <a:ea typeface="IBM Plex Sans" pitchFamily="34" charset="-122"/>
                <a:cs typeface="IBM Plex Sans" pitchFamily="34" charset="-120"/>
              </a:rPr>
              <a:t>Next: a Fuseki endpoint, SWIFT codes, stock tickers, FIBO.</a:t>
            </a:r>
            <a:endParaRPr lang="en-US" sz="1500" dirty="0"/>
          </a:p>
        </p:txBody>
      </p:sp>
      <p:sp>
        <p:nvSpPr>
          <p:cNvPr id="11" name="Text 9"/>
          <p:cNvSpPr/>
          <p:nvPr/>
        </p:nvSpPr>
        <p:spPr>
          <a:xfrm>
            <a:off x="812800" y="5405177"/>
            <a:ext cx="2880678" cy="665427"/>
          </a:xfrm>
          <a:prstGeom prst="rect">
            <a:avLst/>
          </a:prstGeom>
          <a:noFill/>
          <a:ln/>
        </p:spPr>
        <p:txBody>
          <a:bodyPr wrap="square" lIns="0" tIns="0" rIns="0" bIns="0" rtlCol="0" anchor="t">
            <a:normAutofit/>
          </a:bodyPr>
          <a:lstStyle/>
          <a:p>
            <a:pPr marL="0" indent="0" algn="l">
              <a:lnSpc>
                <a:spcPts val="5040"/>
              </a:lnSpc>
              <a:buNone/>
            </a:pPr>
            <a:r>
              <a:rPr lang="en-US" sz="3600" b="1">
                <a:solidFill>
                  <a:srgbClr val="FBF4F0"/>
                </a:solidFill>
                <a:latin typeface="Source Serif 4" pitchFamily="18" charset="0"/>
                <a:ea typeface="Source Serif 4" pitchFamily="18" charset="-122"/>
                <a:cs typeface="Source Serif 4" pitchFamily="18" charset="-120"/>
              </a:rPr>
              <a:t>Thank you!</a:t>
            </a:r>
            <a:endParaRPr lang="en-US" sz="3600" dirty="0"/>
          </a:p>
        </p:txBody>
      </p:sp>
      <p:sp>
        <p:nvSpPr>
          <p:cNvPr id="12" name="Text 10"/>
          <p:cNvSpPr/>
          <p:nvPr/>
        </p:nvSpPr>
        <p:spPr>
          <a:xfrm>
            <a:off x="7836535" y="5796297"/>
            <a:ext cx="3542665" cy="274307"/>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F3D3D7"/>
                </a:solidFill>
                <a:latin typeface="IBM Plex Sans" pitchFamily="34" charset="0"/>
                <a:ea typeface="IBM Plex Sans" pitchFamily="34" charset="-122"/>
                <a:cs typeface="IBM Plex Sans" pitchFamily="34" charset="-120"/>
              </a:rPr>
              <a:t>Group 24 · Supervisor: Dr. Đỗ Bá Lâm</a:t>
            </a:r>
            <a:endParaRPr lang="en-US" sz="1400" dirty="0"/>
          </a:p>
        </p:txBody>
      </p:sp>
    </p:spTree>
  </p:cSld>
  <p:clrMapOvr>
    <a:masterClrMapping/>
  </p:clrMapOvr>
</p:sld>
</file>

<file path=ppt/theme/theme1.xml><?xml version="1.0" encoding="utf-8"?>
<a:theme xmlns:a="http://schemas.openxmlformats.org/drawingml/2006/main" name="VNBank-LOD – Group 24">
  <a:themeElements>
    <a:clrScheme name="VNBank-LOD – Group 24">
      <a:dk1>
        <a:srgbClr val="2B1A1C"/>
      </a:dk1>
      <a:lt1>
        <a:srgbClr val="FAF7F2"/>
      </a:lt1>
      <a:dk2>
        <a:srgbClr val="5F5152"/>
      </a:dk2>
      <a:lt2>
        <a:srgbClr val="E5E1DD"/>
      </a:lt2>
      <a:accent1>
        <a:srgbClr val="A6192E"/>
      </a:accent1>
      <a:accent2>
        <a:srgbClr val="7A1020"/>
      </a:accent2>
      <a:accent3>
        <a:srgbClr val="9E1A2C"/>
      </a:accent3>
      <a:accent4>
        <a:srgbClr val="8E1526"/>
      </a:accent4>
      <a:accent5>
        <a:srgbClr val="E3B1B8"/>
      </a:accent5>
      <a:accent6>
        <a:srgbClr val="C2485A"/>
      </a:accent6>
      <a:hlink>
        <a:srgbClr val="0563C1"/>
      </a:hlink>
      <a:folHlink>
        <a:srgbClr val="954F72"/>
      </a:folHlink>
    </a:clrScheme>
    <a:fontScheme name="VNBank-LOD – Group 24">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2475</Words>
  <Application>Microsoft Office PowerPoint</Application>
  <PresentationFormat>Widescreen</PresentationFormat>
  <Paragraphs>310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IBM Plex Sans</vt:lpstr>
      <vt:lpstr>JetBrains Mono</vt:lpstr>
      <vt:lpstr>Source Serif 4</vt:lpstr>
      <vt:lpstr>VNBank-LOD – Group 24</vt:lpstr>
      <vt:lpstr>VNBank-LOD</vt:lpstr>
      <vt:lpstr>OUTLINE</vt:lpstr>
      <vt:lpstr>From scattered information to five-star data</vt:lpstr>
      <vt:lpstr>30 banks (public data only)</vt:lpstr>
      <vt:lpstr>30 banks, every record sourced</vt:lpstr>
      <vt:lpstr>Four core classes, five defined classes</vt:lpstr>
      <vt:lpstr>Competency questions become inferred classes</vt:lpstr>
      <vt:lpstr>The reasoner classifies classes and infers inverses</vt:lpstr>
      <vt:lpstr>HermiT answers datatype restrictions</vt:lpstr>
      <vt:lpstr>Every bank is an RDF resource</vt:lpstr>
      <vt:lpstr>ACB and Vietcombank in the graph</vt:lpstr>
      <vt:lpstr>38 links, each with evidence</vt:lpstr>
      <vt:lpstr>OWL RL adds 3,503 triples, no inconsistency</vt:lpstr>
      <vt:lpstr>16 queries covering SPARQL 1.1</vt:lpstr>
      <vt:lpstr>Hanoi headquarters and counts by bank type</vt:lpstr>
      <vt:lpstr>Links are used at query time</vt:lpstr>
      <vt:lpstr>Five stars, three limitations</vt:lpstr>
      <vt:lpstr>Public data on 30 Vietnamese banks, published as five-star Linked Open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VNBank-LOD – Group 24</dc:title>
  <dc:subject/>
  <dc:creator/>
  <cp:lastModifiedBy>Lan-Hương Đinh</cp:lastModifiedBy>
  <cp:revision>2</cp:revision>
  <dcterms:created xsi:type="dcterms:W3CDTF">2026-10-09T10:26:14Z</dcterms:created>
  <dcterms:modified xsi:type="dcterms:W3CDTF">2026-10-09T10:36:06Z</dcterms:modified>
</cp:coreProperties>
</file>